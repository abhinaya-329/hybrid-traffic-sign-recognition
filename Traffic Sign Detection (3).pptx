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57" r:id="rId3"/>
    <p:sldId id="258" r:id="rId4"/>
    <p:sldId id="265" r:id="rId5"/>
    <p:sldId id="264" r:id="rId6"/>
    <p:sldId id="266" r:id="rId7"/>
    <p:sldId id="270" r:id="rId8"/>
    <p:sldId id="260" r:id="rId9"/>
    <p:sldId id="261" r:id="rId10"/>
    <p:sldId id="262" r:id="rId11"/>
    <p:sldId id="259" r:id="rId12"/>
    <p:sldId id="267" r:id="rId13"/>
    <p:sldId id="275" r:id="rId14"/>
    <p:sldId id="276" r:id="rId15"/>
    <p:sldId id="277" r:id="rId16"/>
    <p:sldId id="271" r:id="rId17"/>
    <p:sldId id="263"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75" d="100"/>
          <a:sy n="75" d="100"/>
        </p:scale>
        <p:origin x="974"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608B2B-7DEA-4ED5-959E-4CB6E0D76A45}" type="datetimeFigureOut">
              <a:rPr lang="en-IN" smtClean="0"/>
              <a:t>04-05-2026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8B1685-F777-41B8-A269-2B0FD3BEBF0F}" type="slidenum">
              <a:rPr lang="en-IN" smtClean="0"/>
              <a:t>‹#›</a:t>
            </a:fld>
            <a:endParaRPr lang="en-IN"/>
          </a:p>
        </p:txBody>
      </p:sp>
    </p:spTree>
    <p:extLst>
      <p:ext uri="{BB962C8B-B14F-4D97-AF65-F5344CB8AC3E}">
        <p14:creationId xmlns:p14="http://schemas.microsoft.com/office/powerpoint/2010/main" val="25939045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38B1685-F777-41B8-A269-2B0FD3BEBF0F}" type="slidenum">
              <a:rPr lang="en-IN" smtClean="0"/>
              <a:t>1</a:t>
            </a:fld>
            <a:endParaRPr lang="en-IN"/>
          </a:p>
        </p:txBody>
      </p:sp>
    </p:spTree>
    <p:extLst>
      <p:ext uri="{BB962C8B-B14F-4D97-AF65-F5344CB8AC3E}">
        <p14:creationId xmlns:p14="http://schemas.microsoft.com/office/powerpoint/2010/main" val="17064264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A45B4-0129-D1E2-1CA7-3DDAED502D4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9155F27-F737-5A15-85F3-87D79AFFFBC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F185BAA-78F3-FBE5-87A5-C9CC8473A4F1}"/>
              </a:ext>
            </a:extLst>
          </p:cNvPr>
          <p:cNvSpPr>
            <a:spLocks noGrp="1"/>
          </p:cNvSpPr>
          <p:nvPr>
            <p:ph type="dt" sz="half" idx="10"/>
          </p:nvPr>
        </p:nvSpPr>
        <p:spPr/>
        <p:txBody>
          <a:bodyPr/>
          <a:lstStyle/>
          <a:p>
            <a:fld id="{8027274F-3D13-415F-AD59-6AE999C619DD}" type="datetimeFigureOut">
              <a:rPr lang="en-IN" smtClean="0"/>
              <a:t>04-05-2026</a:t>
            </a:fld>
            <a:endParaRPr lang="en-IN"/>
          </a:p>
        </p:txBody>
      </p:sp>
      <p:sp>
        <p:nvSpPr>
          <p:cNvPr id="5" name="Footer Placeholder 4">
            <a:extLst>
              <a:ext uri="{FF2B5EF4-FFF2-40B4-BE49-F238E27FC236}">
                <a16:creationId xmlns:a16="http://schemas.microsoft.com/office/drawing/2014/main" id="{33ED6478-D297-6BE3-1E5F-E6A8068EF51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2FFC791-2A43-0457-44F4-4F4B4B73FF76}"/>
              </a:ext>
            </a:extLst>
          </p:cNvPr>
          <p:cNvSpPr>
            <a:spLocks noGrp="1"/>
          </p:cNvSpPr>
          <p:nvPr>
            <p:ph type="sldNum" sz="quarter" idx="12"/>
          </p:nvPr>
        </p:nvSpPr>
        <p:spPr/>
        <p:txBody>
          <a:bodyPr/>
          <a:lstStyle/>
          <a:p>
            <a:fld id="{ACE5993C-95AD-49C1-81E6-09F9B142C3BD}" type="slidenum">
              <a:rPr lang="en-IN" smtClean="0"/>
              <a:t>‹#›</a:t>
            </a:fld>
            <a:endParaRPr lang="en-IN"/>
          </a:p>
        </p:txBody>
      </p:sp>
    </p:spTree>
    <p:extLst>
      <p:ext uri="{BB962C8B-B14F-4D97-AF65-F5344CB8AC3E}">
        <p14:creationId xmlns:p14="http://schemas.microsoft.com/office/powerpoint/2010/main" val="2410341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E6C0A-7836-B509-942C-3065F573A2B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9B8C3A8-769F-8AFF-2391-C32BC5E3B65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609C7A1-8426-EAAD-5986-DE103D535301}"/>
              </a:ext>
            </a:extLst>
          </p:cNvPr>
          <p:cNvSpPr>
            <a:spLocks noGrp="1"/>
          </p:cNvSpPr>
          <p:nvPr>
            <p:ph type="dt" sz="half" idx="10"/>
          </p:nvPr>
        </p:nvSpPr>
        <p:spPr/>
        <p:txBody>
          <a:bodyPr/>
          <a:lstStyle/>
          <a:p>
            <a:fld id="{8027274F-3D13-415F-AD59-6AE999C619DD}" type="datetimeFigureOut">
              <a:rPr lang="en-IN" smtClean="0"/>
              <a:t>04-05-2026</a:t>
            </a:fld>
            <a:endParaRPr lang="en-IN"/>
          </a:p>
        </p:txBody>
      </p:sp>
      <p:sp>
        <p:nvSpPr>
          <p:cNvPr id="5" name="Footer Placeholder 4">
            <a:extLst>
              <a:ext uri="{FF2B5EF4-FFF2-40B4-BE49-F238E27FC236}">
                <a16:creationId xmlns:a16="http://schemas.microsoft.com/office/drawing/2014/main" id="{5977EEB6-1CF2-A613-DF77-4A0CAFB0381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71640D6-6650-37B4-B18C-8FE290F161C7}"/>
              </a:ext>
            </a:extLst>
          </p:cNvPr>
          <p:cNvSpPr>
            <a:spLocks noGrp="1"/>
          </p:cNvSpPr>
          <p:nvPr>
            <p:ph type="sldNum" sz="quarter" idx="12"/>
          </p:nvPr>
        </p:nvSpPr>
        <p:spPr/>
        <p:txBody>
          <a:bodyPr/>
          <a:lstStyle/>
          <a:p>
            <a:fld id="{ACE5993C-95AD-49C1-81E6-09F9B142C3BD}" type="slidenum">
              <a:rPr lang="en-IN" smtClean="0"/>
              <a:t>‹#›</a:t>
            </a:fld>
            <a:endParaRPr lang="en-IN"/>
          </a:p>
        </p:txBody>
      </p:sp>
    </p:spTree>
    <p:extLst>
      <p:ext uri="{BB962C8B-B14F-4D97-AF65-F5344CB8AC3E}">
        <p14:creationId xmlns:p14="http://schemas.microsoft.com/office/powerpoint/2010/main" val="39756404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3B7DB-38B4-2921-4A44-DD10BE12BF1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4F1C126-09AD-23BA-9DD3-C6C67EA6F66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C4BABD7-BA05-B379-1716-B8C44577F8D8}"/>
              </a:ext>
            </a:extLst>
          </p:cNvPr>
          <p:cNvSpPr>
            <a:spLocks noGrp="1"/>
          </p:cNvSpPr>
          <p:nvPr>
            <p:ph type="dt" sz="half" idx="10"/>
          </p:nvPr>
        </p:nvSpPr>
        <p:spPr/>
        <p:txBody>
          <a:bodyPr/>
          <a:lstStyle/>
          <a:p>
            <a:fld id="{8027274F-3D13-415F-AD59-6AE999C619DD}" type="datetimeFigureOut">
              <a:rPr lang="en-IN" smtClean="0"/>
              <a:t>04-05-2026</a:t>
            </a:fld>
            <a:endParaRPr lang="en-IN"/>
          </a:p>
        </p:txBody>
      </p:sp>
      <p:sp>
        <p:nvSpPr>
          <p:cNvPr id="5" name="Footer Placeholder 4">
            <a:extLst>
              <a:ext uri="{FF2B5EF4-FFF2-40B4-BE49-F238E27FC236}">
                <a16:creationId xmlns:a16="http://schemas.microsoft.com/office/drawing/2014/main" id="{9FD2A705-5D4D-9802-987F-ED72AC53100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2493672-B2E6-BAB1-5FB7-5D5263A87367}"/>
              </a:ext>
            </a:extLst>
          </p:cNvPr>
          <p:cNvSpPr>
            <a:spLocks noGrp="1"/>
          </p:cNvSpPr>
          <p:nvPr>
            <p:ph type="sldNum" sz="quarter" idx="12"/>
          </p:nvPr>
        </p:nvSpPr>
        <p:spPr/>
        <p:txBody>
          <a:bodyPr/>
          <a:lstStyle/>
          <a:p>
            <a:fld id="{ACE5993C-95AD-49C1-81E6-09F9B142C3BD}" type="slidenum">
              <a:rPr lang="en-IN" smtClean="0"/>
              <a:t>‹#›</a:t>
            </a:fld>
            <a:endParaRPr lang="en-IN"/>
          </a:p>
        </p:txBody>
      </p:sp>
    </p:spTree>
    <p:extLst>
      <p:ext uri="{BB962C8B-B14F-4D97-AF65-F5344CB8AC3E}">
        <p14:creationId xmlns:p14="http://schemas.microsoft.com/office/powerpoint/2010/main" val="35583687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3B4D2-909F-B2AE-1CF9-703BA0EF901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AE1CE08-CF9E-D35C-7E55-B032FE7E7E1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1C6FDE6-5567-724B-E379-A4F36618B0B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C072AA2-1644-E5FB-8434-2042F47DA3F7}"/>
              </a:ext>
            </a:extLst>
          </p:cNvPr>
          <p:cNvSpPr>
            <a:spLocks noGrp="1"/>
          </p:cNvSpPr>
          <p:nvPr>
            <p:ph type="dt" sz="half" idx="10"/>
          </p:nvPr>
        </p:nvSpPr>
        <p:spPr/>
        <p:txBody>
          <a:bodyPr/>
          <a:lstStyle/>
          <a:p>
            <a:fld id="{8027274F-3D13-415F-AD59-6AE999C619DD}" type="datetimeFigureOut">
              <a:rPr lang="en-IN" smtClean="0"/>
              <a:t>04-05-2026</a:t>
            </a:fld>
            <a:endParaRPr lang="en-IN"/>
          </a:p>
        </p:txBody>
      </p:sp>
      <p:sp>
        <p:nvSpPr>
          <p:cNvPr id="6" name="Footer Placeholder 5">
            <a:extLst>
              <a:ext uri="{FF2B5EF4-FFF2-40B4-BE49-F238E27FC236}">
                <a16:creationId xmlns:a16="http://schemas.microsoft.com/office/drawing/2014/main" id="{BAA82153-F004-DB3A-0E56-DE9D2AD8807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AFD9B56-3164-8DCF-D0BD-EE5DA0A54982}"/>
              </a:ext>
            </a:extLst>
          </p:cNvPr>
          <p:cNvSpPr>
            <a:spLocks noGrp="1"/>
          </p:cNvSpPr>
          <p:nvPr>
            <p:ph type="sldNum" sz="quarter" idx="12"/>
          </p:nvPr>
        </p:nvSpPr>
        <p:spPr/>
        <p:txBody>
          <a:bodyPr/>
          <a:lstStyle/>
          <a:p>
            <a:fld id="{ACE5993C-95AD-49C1-81E6-09F9B142C3BD}" type="slidenum">
              <a:rPr lang="en-IN" smtClean="0"/>
              <a:t>‹#›</a:t>
            </a:fld>
            <a:endParaRPr lang="en-IN"/>
          </a:p>
        </p:txBody>
      </p:sp>
    </p:spTree>
    <p:extLst>
      <p:ext uri="{BB962C8B-B14F-4D97-AF65-F5344CB8AC3E}">
        <p14:creationId xmlns:p14="http://schemas.microsoft.com/office/powerpoint/2010/main" val="10029541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73EDED-F600-12B9-706C-3B2661275D9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C82F3E9-795D-63EC-C860-4D389C4728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0C0E037-1E83-B54D-77D3-B2FA7CF969E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49A4605-7FAD-58F6-22F3-C4C3E5EEA85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FF502B7-2F4A-727C-E0EF-7590E2B1AD7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BD083DF-E31C-4168-EA26-F29B2173626E}"/>
              </a:ext>
            </a:extLst>
          </p:cNvPr>
          <p:cNvSpPr>
            <a:spLocks noGrp="1"/>
          </p:cNvSpPr>
          <p:nvPr>
            <p:ph type="dt" sz="half" idx="10"/>
          </p:nvPr>
        </p:nvSpPr>
        <p:spPr/>
        <p:txBody>
          <a:bodyPr/>
          <a:lstStyle/>
          <a:p>
            <a:fld id="{8027274F-3D13-415F-AD59-6AE999C619DD}" type="datetimeFigureOut">
              <a:rPr lang="en-IN" smtClean="0"/>
              <a:t>04-05-2026</a:t>
            </a:fld>
            <a:endParaRPr lang="en-IN"/>
          </a:p>
        </p:txBody>
      </p:sp>
      <p:sp>
        <p:nvSpPr>
          <p:cNvPr id="8" name="Footer Placeholder 7">
            <a:extLst>
              <a:ext uri="{FF2B5EF4-FFF2-40B4-BE49-F238E27FC236}">
                <a16:creationId xmlns:a16="http://schemas.microsoft.com/office/drawing/2014/main" id="{DC4FE045-BADB-DEC3-B14E-5BF09DD833F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65EDD2E-B784-449C-B0B4-DC0C7BD50D16}"/>
              </a:ext>
            </a:extLst>
          </p:cNvPr>
          <p:cNvSpPr>
            <a:spLocks noGrp="1"/>
          </p:cNvSpPr>
          <p:nvPr>
            <p:ph type="sldNum" sz="quarter" idx="12"/>
          </p:nvPr>
        </p:nvSpPr>
        <p:spPr/>
        <p:txBody>
          <a:bodyPr/>
          <a:lstStyle/>
          <a:p>
            <a:fld id="{ACE5993C-95AD-49C1-81E6-09F9B142C3BD}" type="slidenum">
              <a:rPr lang="en-IN" smtClean="0"/>
              <a:t>‹#›</a:t>
            </a:fld>
            <a:endParaRPr lang="en-IN"/>
          </a:p>
        </p:txBody>
      </p:sp>
    </p:spTree>
    <p:extLst>
      <p:ext uri="{BB962C8B-B14F-4D97-AF65-F5344CB8AC3E}">
        <p14:creationId xmlns:p14="http://schemas.microsoft.com/office/powerpoint/2010/main" val="41656427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85E3D-C965-E86B-5672-57FF83333E6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FC771E9-EC79-2032-A166-50669254A8E7}"/>
              </a:ext>
            </a:extLst>
          </p:cNvPr>
          <p:cNvSpPr>
            <a:spLocks noGrp="1"/>
          </p:cNvSpPr>
          <p:nvPr>
            <p:ph type="dt" sz="half" idx="10"/>
          </p:nvPr>
        </p:nvSpPr>
        <p:spPr/>
        <p:txBody>
          <a:bodyPr/>
          <a:lstStyle/>
          <a:p>
            <a:fld id="{8027274F-3D13-415F-AD59-6AE999C619DD}" type="datetimeFigureOut">
              <a:rPr lang="en-IN" smtClean="0"/>
              <a:t>04-05-2026</a:t>
            </a:fld>
            <a:endParaRPr lang="en-IN"/>
          </a:p>
        </p:txBody>
      </p:sp>
      <p:sp>
        <p:nvSpPr>
          <p:cNvPr id="4" name="Footer Placeholder 3">
            <a:extLst>
              <a:ext uri="{FF2B5EF4-FFF2-40B4-BE49-F238E27FC236}">
                <a16:creationId xmlns:a16="http://schemas.microsoft.com/office/drawing/2014/main" id="{BB46C600-0CA7-7629-DF84-3E00F05322E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7FED6F4-8565-A7F9-79EF-9BE8C3CE23A4}"/>
              </a:ext>
            </a:extLst>
          </p:cNvPr>
          <p:cNvSpPr>
            <a:spLocks noGrp="1"/>
          </p:cNvSpPr>
          <p:nvPr>
            <p:ph type="sldNum" sz="quarter" idx="12"/>
          </p:nvPr>
        </p:nvSpPr>
        <p:spPr/>
        <p:txBody>
          <a:bodyPr/>
          <a:lstStyle/>
          <a:p>
            <a:fld id="{ACE5993C-95AD-49C1-81E6-09F9B142C3BD}" type="slidenum">
              <a:rPr lang="en-IN" smtClean="0"/>
              <a:t>‹#›</a:t>
            </a:fld>
            <a:endParaRPr lang="en-IN"/>
          </a:p>
        </p:txBody>
      </p:sp>
    </p:spTree>
    <p:extLst>
      <p:ext uri="{BB962C8B-B14F-4D97-AF65-F5344CB8AC3E}">
        <p14:creationId xmlns:p14="http://schemas.microsoft.com/office/powerpoint/2010/main" val="17813691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F33A92F-D14F-E624-BE03-1965872CF0BB}"/>
              </a:ext>
            </a:extLst>
          </p:cNvPr>
          <p:cNvSpPr>
            <a:spLocks noGrp="1"/>
          </p:cNvSpPr>
          <p:nvPr>
            <p:ph type="dt" sz="half" idx="10"/>
          </p:nvPr>
        </p:nvSpPr>
        <p:spPr/>
        <p:txBody>
          <a:bodyPr/>
          <a:lstStyle/>
          <a:p>
            <a:fld id="{8027274F-3D13-415F-AD59-6AE999C619DD}" type="datetimeFigureOut">
              <a:rPr lang="en-IN" smtClean="0"/>
              <a:t>04-05-2026</a:t>
            </a:fld>
            <a:endParaRPr lang="en-IN"/>
          </a:p>
        </p:txBody>
      </p:sp>
      <p:sp>
        <p:nvSpPr>
          <p:cNvPr id="3" name="Footer Placeholder 2">
            <a:extLst>
              <a:ext uri="{FF2B5EF4-FFF2-40B4-BE49-F238E27FC236}">
                <a16:creationId xmlns:a16="http://schemas.microsoft.com/office/drawing/2014/main" id="{7A6C4B9B-DFCC-582A-CEE3-DAC9B934FC7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7176F6E-5464-0A35-8032-9DC8E090F241}"/>
              </a:ext>
            </a:extLst>
          </p:cNvPr>
          <p:cNvSpPr>
            <a:spLocks noGrp="1"/>
          </p:cNvSpPr>
          <p:nvPr>
            <p:ph type="sldNum" sz="quarter" idx="12"/>
          </p:nvPr>
        </p:nvSpPr>
        <p:spPr/>
        <p:txBody>
          <a:bodyPr/>
          <a:lstStyle/>
          <a:p>
            <a:fld id="{ACE5993C-95AD-49C1-81E6-09F9B142C3BD}" type="slidenum">
              <a:rPr lang="en-IN" smtClean="0"/>
              <a:t>‹#›</a:t>
            </a:fld>
            <a:endParaRPr lang="en-IN"/>
          </a:p>
        </p:txBody>
      </p:sp>
    </p:spTree>
    <p:extLst>
      <p:ext uri="{BB962C8B-B14F-4D97-AF65-F5344CB8AC3E}">
        <p14:creationId xmlns:p14="http://schemas.microsoft.com/office/powerpoint/2010/main" val="29478689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C949E-3D71-03A0-4476-E2EFB46194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DDD4CA6-9DE7-25FE-6EBE-69251EEA836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8B60006-E731-40B5-6256-90287B5BA1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9350955-34BA-333B-EEA7-AFBD3F681587}"/>
              </a:ext>
            </a:extLst>
          </p:cNvPr>
          <p:cNvSpPr>
            <a:spLocks noGrp="1"/>
          </p:cNvSpPr>
          <p:nvPr>
            <p:ph type="dt" sz="half" idx="10"/>
          </p:nvPr>
        </p:nvSpPr>
        <p:spPr/>
        <p:txBody>
          <a:bodyPr/>
          <a:lstStyle/>
          <a:p>
            <a:fld id="{8027274F-3D13-415F-AD59-6AE999C619DD}" type="datetimeFigureOut">
              <a:rPr lang="en-IN" smtClean="0"/>
              <a:t>04-05-2026</a:t>
            </a:fld>
            <a:endParaRPr lang="en-IN"/>
          </a:p>
        </p:txBody>
      </p:sp>
      <p:sp>
        <p:nvSpPr>
          <p:cNvPr id="6" name="Footer Placeholder 5">
            <a:extLst>
              <a:ext uri="{FF2B5EF4-FFF2-40B4-BE49-F238E27FC236}">
                <a16:creationId xmlns:a16="http://schemas.microsoft.com/office/drawing/2014/main" id="{F7B2DA81-EEB4-4D01-B3BC-F83C4E4F44F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BBDEC12-F938-606E-D2ED-BFCCCF082874}"/>
              </a:ext>
            </a:extLst>
          </p:cNvPr>
          <p:cNvSpPr>
            <a:spLocks noGrp="1"/>
          </p:cNvSpPr>
          <p:nvPr>
            <p:ph type="sldNum" sz="quarter" idx="12"/>
          </p:nvPr>
        </p:nvSpPr>
        <p:spPr/>
        <p:txBody>
          <a:bodyPr/>
          <a:lstStyle/>
          <a:p>
            <a:fld id="{ACE5993C-95AD-49C1-81E6-09F9B142C3BD}" type="slidenum">
              <a:rPr lang="en-IN" smtClean="0"/>
              <a:t>‹#›</a:t>
            </a:fld>
            <a:endParaRPr lang="en-IN"/>
          </a:p>
        </p:txBody>
      </p:sp>
    </p:spTree>
    <p:extLst>
      <p:ext uri="{BB962C8B-B14F-4D97-AF65-F5344CB8AC3E}">
        <p14:creationId xmlns:p14="http://schemas.microsoft.com/office/powerpoint/2010/main" val="37412618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3A6FE-1FC7-8949-B0BB-26006338910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D012A7A-99DC-7796-1831-6424F21622B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784EDDE-A73C-7E4B-9B99-E9344F8D117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CEE2927-1364-3606-3B30-FC712E6F426A}"/>
              </a:ext>
            </a:extLst>
          </p:cNvPr>
          <p:cNvSpPr>
            <a:spLocks noGrp="1"/>
          </p:cNvSpPr>
          <p:nvPr>
            <p:ph type="dt" sz="half" idx="10"/>
          </p:nvPr>
        </p:nvSpPr>
        <p:spPr/>
        <p:txBody>
          <a:bodyPr/>
          <a:lstStyle/>
          <a:p>
            <a:fld id="{8027274F-3D13-415F-AD59-6AE999C619DD}" type="datetimeFigureOut">
              <a:rPr lang="en-IN" smtClean="0"/>
              <a:t>04-05-2026</a:t>
            </a:fld>
            <a:endParaRPr lang="en-IN"/>
          </a:p>
        </p:txBody>
      </p:sp>
      <p:sp>
        <p:nvSpPr>
          <p:cNvPr id="6" name="Footer Placeholder 5">
            <a:extLst>
              <a:ext uri="{FF2B5EF4-FFF2-40B4-BE49-F238E27FC236}">
                <a16:creationId xmlns:a16="http://schemas.microsoft.com/office/drawing/2014/main" id="{E85A987E-514D-5406-9118-8F4D6D0DB52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7E6549F-7F20-7E1D-CA4F-31D42902552D}"/>
              </a:ext>
            </a:extLst>
          </p:cNvPr>
          <p:cNvSpPr>
            <a:spLocks noGrp="1"/>
          </p:cNvSpPr>
          <p:nvPr>
            <p:ph type="sldNum" sz="quarter" idx="12"/>
          </p:nvPr>
        </p:nvSpPr>
        <p:spPr/>
        <p:txBody>
          <a:bodyPr/>
          <a:lstStyle/>
          <a:p>
            <a:fld id="{ACE5993C-95AD-49C1-81E6-09F9B142C3BD}" type="slidenum">
              <a:rPr lang="en-IN" smtClean="0"/>
              <a:t>‹#›</a:t>
            </a:fld>
            <a:endParaRPr lang="en-IN"/>
          </a:p>
        </p:txBody>
      </p:sp>
    </p:spTree>
    <p:extLst>
      <p:ext uri="{BB962C8B-B14F-4D97-AF65-F5344CB8AC3E}">
        <p14:creationId xmlns:p14="http://schemas.microsoft.com/office/powerpoint/2010/main" val="16516285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1F3B6-5F06-90D7-407D-B387BA9F8ED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7265D49-5F72-AB01-1A1D-F0628520713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9CB7C1E-B7F2-8746-926D-F6713AB1072F}"/>
              </a:ext>
            </a:extLst>
          </p:cNvPr>
          <p:cNvSpPr>
            <a:spLocks noGrp="1"/>
          </p:cNvSpPr>
          <p:nvPr>
            <p:ph type="dt" sz="half" idx="10"/>
          </p:nvPr>
        </p:nvSpPr>
        <p:spPr/>
        <p:txBody>
          <a:bodyPr/>
          <a:lstStyle/>
          <a:p>
            <a:fld id="{8027274F-3D13-415F-AD59-6AE999C619DD}" type="datetimeFigureOut">
              <a:rPr lang="en-IN" smtClean="0"/>
              <a:t>04-05-2026</a:t>
            </a:fld>
            <a:endParaRPr lang="en-IN"/>
          </a:p>
        </p:txBody>
      </p:sp>
      <p:sp>
        <p:nvSpPr>
          <p:cNvPr id="5" name="Footer Placeholder 4">
            <a:extLst>
              <a:ext uri="{FF2B5EF4-FFF2-40B4-BE49-F238E27FC236}">
                <a16:creationId xmlns:a16="http://schemas.microsoft.com/office/drawing/2014/main" id="{0325D3E3-1B6A-37E4-EBBA-3E71DF76423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5D2A5AA-0BB8-1159-936F-9AD1BD5E631D}"/>
              </a:ext>
            </a:extLst>
          </p:cNvPr>
          <p:cNvSpPr>
            <a:spLocks noGrp="1"/>
          </p:cNvSpPr>
          <p:nvPr>
            <p:ph type="sldNum" sz="quarter" idx="12"/>
          </p:nvPr>
        </p:nvSpPr>
        <p:spPr/>
        <p:txBody>
          <a:bodyPr/>
          <a:lstStyle/>
          <a:p>
            <a:fld id="{ACE5993C-95AD-49C1-81E6-09F9B142C3BD}" type="slidenum">
              <a:rPr lang="en-IN" smtClean="0"/>
              <a:t>‹#›</a:t>
            </a:fld>
            <a:endParaRPr lang="en-IN"/>
          </a:p>
        </p:txBody>
      </p:sp>
    </p:spTree>
    <p:extLst>
      <p:ext uri="{BB962C8B-B14F-4D97-AF65-F5344CB8AC3E}">
        <p14:creationId xmlns:p14="http://schemas.microsoft.com/office/powerpoint/2010/main" val="11451589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770F67E-A7B6-072D-D81A-AD297713C69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0B5F5BA-71BC-78D0-2F11-4171D4D8D25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F369859-C869-C7C4-D388-96F296E69ED5}"/>
              </a:ext>
            </a:extLst>
          </p:cNvPr>
          <p:cNvSpPr>
            <a:spLocks noGrp="1"/>
          </p:cNvSpPr>
          <p:nvPr>
            <p:ph type="dt" sz="half" idx="10"/>
          </p:nvPr>
        </p:nvSpPr>
        <p:spPr/>
        <p:txBody>
          <a:bodyPr/>
          <a:lstStyle/>
          <a:p>
            <a:fld id="{8027274F-3D13-415F-AD59-6AE999C619DD}" type="datetimeFigureOut">
              <a:rPr lang="en-IN" smtClean="0"/>
              <a:t>04-05-2026</a:t>
            </a:fld>
            <a:endParaRPr lang="en-IN"/>
          </a:p>
        </p:txBody>
      </p:sp>
      <p:sp>
        <p:nvSpPr>
          <p:cNvPr id="5" name="Footer Placeholder 4">
            <a:extLst>
              <a:ext uri="{FF2B5EF4-FFF2-40B4-BE49-F238E27FC236}">
                <a16:creationId xmlns:a16="http://schemas.microsoft.com/office/drawing/2014/main" id="{3EFFDA7C-871A-4F36-905F-394188E9331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9F5B45C-D65D-FCE8-A239-C6F73E01DBC6}"/>
              </a:ext>
            </a:extLst>
          </p:cNvPr>
          <p:cNvSpPr>
            <a:spLocks noGrp="1"/>
          </p:cNvSpPr>
          <p:nvPr>
            <p:ph type="sldNum" sz="quarter" idx="12"/>
          </p:nvPr>
        </p:nvSpPr>
        <p:spPr/>
        <p:txBody>
          <a:bodyPr/>
          <a:lstStyle/>
          <a:p>
            <a:fld id="{ACE5993C-95AD-49C1-81E6-09F9B142C3BD}" type="slidenum">
              <a:rPr lang="en-IN" smtClean="0"/>
              <a:t>‹#›</a:t>
            </a:fld>
            <a:endParaRPr lang="en-IN"/>
          </a:p>
        </p:txBody>
      </p:sp>
    </p:spTree>
    <p:extLst>
      <p:ext uri="{BB962C8B-B14F-4D97-AF65-F5344CB8AC3E}">
        <p14:creationId xmlns:p14="http://schemas.microsoft.com/office/powerpoint/2010/main" val="11048552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0F1A02E-A404-576D-097F-3308E3EABB5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DEC93FC-2A30-21BC-E96D-8D0A551F47F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8658A58-C0E2-DFD3-E3B0-BFE60965AB1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027274F-3D13-415F-AD59-6AE999C619DD}" type="datetimeFigureOut">
              <a:rPr lang="en-IN" smtClean="0"/>
              <a:t>04-05-2026</a:t>
            </a:fld>
            <a:endParaRPr lang="en-IN"/>
          </a:p>
        </p:txBody>
      </p:sp>
      <p:sp>
        <p:nvSpPr>
          <p:cNvPr id="5" name="Footer Placeholder 4">
            <a:extLst>
              <a:ext uri="{FF2B5EF4-FFF2-40B4-BE49-F238E27FC236}">
                <a16:creationId xmlns:a16="http://schemas.microsoft.com/office/drawing/2014/main" id="{A51DEB4D-F8FF-7F9C-B5A1-6286A8D301B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E74481A-973B-2828-DF4F-A1E7838E7D2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E5993C-95AD-49C1-81E6-09F9B142C3BD}" type="slidenum">
              <a:rPr lang="en-IN" smtClean="0"/>
              <a:t>‹#›</a:t>
            </a:fld>
            <a:endParaRPr lang="en-IN"/>
          </a:p>
        </p:txBody>
      </p:sp>
    </p:spTree>
    <p:extLst>
      <p:ext uri="{BB962C8B-B14F-4D97-AF65-F5344CB8AC3E}">
        <p14:creationId xmlns:p14="http://schemas.microsoft.com/office/powerpoint/2010/main" val="1342626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kaggle.com/datasets/mmontiel/tiny-lisa-traffic-sign-detection-dataset" TargetMode="Externa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1DD69-C641-850A-873D-132650693121}"/>
              </a:ext>
            </a:extLst>
          </p:cNvPr>
          <p:cNvSpPr>
            <a:spLocks noGrp="1"/>
          </p:cNvSpPr>
          <p:nvPr>
            <p:ph type="ctrTitle"/>
          </p:nvPr>
        </p:nvSpPr>
        <p:spPr>
          <a:xfrm>
            <a:off x="858520" y="843935"/>
            <a:ext cx="10474960" cy="1749989"/>
          </a:xfrm>
        </p:spPr>
        <p:txBody>
          <a:bodyPr>
            <a:normAutofit/>
          </a:bodyPr>
          <a:lstStyle/>
          <a:p>
            <a:r>
              <a:rPr lang="en-US" sz="4400" dirty="0">
                <a:latin typeface="Times New Roman" panose="02020603050405020304" pitchFamily="18" charset="0"/>
                <a:cs typeface="Times New Roman" panose="02020603050405020304" pitchFamily="18" charset="0"/>
              </a:rPr>
              <a:t>A Hybrid Deep Learning Framework for Traffic Sign Recognition using Model Fusion</a:t>
            </a:r>
            <a:endParaRPr lang="en-IN" sz="44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3984F69E-52C7-04C8-2459-39E1B3B58AE9}"/>
              </a:ext>
            </a:extLst>
          </p:cNvPr>
          <p:cNvSpPr>
            <a:spLocks noGrp="1"/>
          </p:cNvSpPr>
          <p:nvPr>
            <p:ph type="subTitle" idx="1"/>
          </p:nvPr>
        </p:nvSpPr>
        <p:spPr>
          <a:xfrm>
            <a:off x="3669071" y="3529944"/>
            <a:ext cx="4853858" cy="1499256"/>
          </a:xfrm>
        </p:spPr>
        <p:txBody>
          <a:bodyPr>
            <a:normAutofit fontScale="92500" lnSpcReduction="10000"/>
          </a:bodyPr>
          <a:lstStyle/>
          <a:p>
            <a:r>
              <a:rPr lang="en-US" sz="1800" dirty="0">
                <a:latin typeface="Times New Roman" panose="02020603050405020304" pitchFamily="18" charset="0"/>
                <a:cs typeface="Times New Roman" panose="02020603050405020304" pitchFamily="18" charset="0"/>
              </a:rPr>
              <a:t>Submitted By:</a:t>
            </a:r>
          </a:p>
          <a:p>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221FA04266</a:t>
            </a:r>
          </a:p>
          <a:p>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221FA04678</a:t>
            </a:r>
            <a:endParaRPr lang="en-IN" sz="18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D5A14A2A-D982-13C5-72CD-008A222EDEE4}"/>
              </a:ext>
            </a:extLst>
          </p:cNvPr>
          <p:cNvSpPr txBox="1"/>
          <p:nvPr/>
        </p:nvSpPr>
        <p:spPr>
          <a:xfrm>
            <a:off x="9762777" y="5029200"/>
            <a:ext cx="2074606" cy="646331"/>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Guide: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M. Bhargavi Mam</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2997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E6284-7595-0CD2-119A-97434AC4F0AF}"/>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ABSTRACT</a:t>
            </a:r>
          </a:p>
        </p:txBody>
      </p:sp>
      <p:sp>
        <p:nvSpPr>
          <p:cNvPr id="3" name="Content Placeholder 2">
            <a:extLst>
              <a:ext uri="{FF2B5EF4-FFF2-40B4-BE49-F238E27FC236}">
                <a16:creationId xmlns:a16="http://schemas.microsoft.com/office/drawing/2014/main" id="{446AD914-2D39-C3A0-F8AB-E0188F775CD8}"/>
              </a:ext>
            </a:extLst>
          </p:cNvPr>
          <p:cNvSpPr>
            <a:spLocks noGrp="1"/>
          </p:cNvSpPr>
          <p:nvPr>
            <p:ph idx="1"/>
          </p:nvPr>
        </p:nvSpPr>
        <p:spPr/>
        <p:txBody>
          <a:bodyPr>
            <a:normAutofit/>
          </a:bodyPr>
          <a:lstStyle/>
          <a:p>
            <a:pPr marL="0" indent="0" algn="just">
              <a:lnSpc>
                <a:spcPct val="150000"/>
              </a:lnSpc>
              <a:buNone/>
            </a:pPr>
            <a:r>
              <a:rPr lang="en-US" sz="1600" dirty="0">
                <a:latin typeface="Times New Roman" panose="02020603050405020304" pitchFamily="18" charset="0"/>
                <a:cs typeface="Times New Roman" panose="02020603050405020304" pitchFamily="18" charset="0"/>
              </a:rPr>
              <a:t>The technology of Automatic Traffic Sign </a:t>
            </a:r>
            <a:r>
              <a:rPr lang="en-US" sz="1600" dirty="0" err="1">
                <a:latin typeface="Times New Roman" panose="02020603050405020304" pitchFamily="18" charset="0"/>
                <a:cs typeface="Times New Roman" panose="02020603050405020304" pitchFamily="18" charset="0"/>
              </a:rPr>
              <a:t>Recog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nition</a:t>
            </a:r>
            <a:r>
              <a:rPr lang="en-US" sz="1600" dirty="0">
                <a:latin typeface="Times New Roman" panose="02020603050405020304" pitchFamily="18" charset="0"/>
                <a:cs typeface="Times New Roman" panose="02020603050405020304" pitchFamily="18" charset="0"/>
              </a:rPr>
              <a:t> (ATSR) plays an important role in autonomous driving including Advanced Driver Assistance Systems (ADAS) as well as improving road safety. There have been major advancements on this technology through the use of Convolutional Neural Networks (CNN), but there are still several challenges that exist, such as class imbalance, varying scale, and complexity of driving scenarios. The research presented in this paper outlines a framework designed for recognizing traffic signs utilizing the LISA dataset. To extract Regions of Interest (ROIs), image background noise is removed by extracting bounding boxes, then the resulting ROIs are resized, augmented through data </a:t>
            </a:r>
            <a:r>
              <a:rPr lang="en-US" sz="1600" dirty="0" err="1">
                <a:latin typeface="Times New Roman" panose="02020603050405020304" pitchFamily="18" charset="0"/>
                <a:cs typeface="Times New Roman" panose="02020603050405020304" pitchFamily="18" charset="0"/>
              </a:rPr>
              <a:t>aug</a:t>
            </a:r>
            <a:r>
              <a:rPr lang="en-US" sz="1600" dirty="0">
                <a:latin typeface="Times New Roman" panose="02020603050405020304" pitchFamily="18" charset="0"/>
                <a:cs typeface="Times New Roman" panose="02020603050405020304" pitchFamily="18" charset="0"/>
              </a:rPr>
              <a:t> mentation and class-balanced for generalizability. The proposed framework utilizes multiple CNN architectures such as ResNet18, ResNet50, EfficientNet-B0, and DenseNet121 for classification in addition to the use of multiple fusion methods like average and attention-based fusion to improve performance. Experimental results indicate that the proposed system achieved an overall accuracy of 98% while individual model performance was also improved through the use of fusions.</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277255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BD378-8058-C677-9840-C19326193193}"/>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1E4B3331-D14A-CACE-58FF-A1064697A361}"/>
              </a:ext>
            </a:extLst>
          </p:cNvPr>
          <p:cNvSpPr>
            <a:spLocks noGrp="1"/>
          </p:cNvSpPr>
          <p:nvPr>
            <p:ph idx="1"/>
          </p:nvPr>
        </p:nvSpPr>
        <p:spPr>
          <a:xfrm>
            <a:off x="838200" y="1573571"/>
            <a:ext cx="10515600" cy="4919304"/>
          </a:xfrm>
        </p:spPr>
        <p:txBody>
          <a:bodyPr>
            <a:noAutofit/>
          </a:bodyPr>
          <a:lstStyle/>
          <a:p>
            <a:pPr marL="0" indent="0" algn="just">
              <a:lnSpc>
                <a:spcPct val="160000"/>
              </a:lnSpc>
              <a:buNone/>
            </a:pPr>
            <a:r>
              <a:rPr lang="en-US" sz="1600" dirty="0">
                <a:latin typeface="Times New Roman" panose="02020603050405020304" pitchFamily="18" charset="0"/>
                <a:cs typeface="Times New Roman" panose="02020603050405020304" pitchFamily="18" charset="0"/>
              </a:rPr>
              <a:t>Traffic sign recognition (TSR) systems are a key aspect of intelligent transport systems (ITS), ADAS, autonomous driving and improve road safety. By successfully detecting and interpreting the traffic signs around them, vehicles use TSR systems to make safe and correct driving decisions in the real world. TSR systems are at risk of facing many hurdles in real-world scenarios, including variations in illumination, occlusions, background clutter, scale changes and class imbalance. Over the last few years, CNNs and deep learning have become the dominant methods used for TSR primary due to their ability to automatically learn multiple representations of higher and lower level features from the input image without having to be explicitly told what feature, or features, each traffic sign contains [6]. Several types of CNN architectures have been used extensively for traffic sign classification, including </a:t>
            </a:r>
            <a:r>
              <a:rPr lang="en-US" sz="1600" dirty="0" err="1">
                <a:latin typeface="Times New Roman" panose="02020603050405020304" pitchFamily="18" charset="0"/>
                <a:cs typeface="Times New Roman" panose="02020603050405020304" pitchFamily="18" charset="0"/>
              </a:rPr>
              <a:t>ResNet</a:t>
            </a:r>
            <a:r>
              <a:rPr lang="en-US" sz="1600" dirty="0">
                <a:latin typeface="Times New Roman" panose="02020603050405020304" pitchFamily="18" charset="0"/>
                <a:cs typeface="Times New Roman" panose="02020603050405020304" pitchFamily="18" charset="0"/>
              </a:rPr>
              <a:t> [5], </a:t>
            </a:r>
            <a:r>
              <a:rPr lang="en-US" sz="1600" dirty="0" err="1">
                <a:latin typeface="Times New Roman" panose="02020603050405020304" pitchFamily="18" charset="0"/>
                <a:cs typeface="Times New Roman" panose="02020603050405020304" pitchFamily="18" charset="0"/>
              </a:rPr>
              <a:t>DenseNet</a:t>
            </a:r>
            <a:r>
              <a:rPr lang="en-US" sz="1600" dirty="0">
                <a:latin typeface="Times New Roman" panose="02020603050405020304" pitchFamily="18" charset="0"/>
                <a:cs typeface="Times New Roman" panose="02020603050405020304" pitchFamily="18" charset="0"/>
              </a:rPr>
              <a:t> [8] and </a:t>
            </a:r>
            <a:r>
              <a:rPr lang="en-US" sz="1600" dirty="0" err="1">
                <a:latin typeface="Times New Roman" panose="02020603050405020304" pitchFamily="18" charset="0"/>
                <a:cs typeface="Times New Roman" panose="02020603050405020304" pitchFamily="18" charset="0"/>
              </a:rPr>
              <a:t>MobileNet</a:t>
            </a:r>
            <a:r>
              <a:rPr lang="en-US" sz="1600" dirty="0">
                <a:latin typeface="Times New Roman" panose="02020603050405020304" pitchFamily="18" charset="0"/>
                <a:cs typeface="Times New Roman" panose="02020603050405020304" pitchFamily="18" charset="0"/>
              </a:rPr>
              <a:t> [9], and have demonstrated strong and reliable performance. More recently, the advent of </a:t>
            </a:r>
            <a:r>
              <a:rPr lang="en-US" sz="1600" dirty="0" err="1">
                <a:latin typeface="Times New Roman" panose="02020603050405020304" pitchFamily="18" charset="0"/>
                <a:cs typeface="Times New Roman" panose="02020603050405020304" pitchFamily="18" charset="0"/>
              </a:rPr>
              <a:t>EfficientNet</a:t>
            </a:r>
            <a:r>
              <a:rPr lang="en-US" sz="1600" dirty="0">
                <a:latin typeface="Times New Roman" panose="02020603050405020304" pitchFamily="18" charset="0"/>
                <a:cs typeface="Times New Roman" panose="02020603050405020304" pitchFamily="18" charset="0"/>
              </a:rPr>
              <a:t> [7] has provided researchers with improved accuracy and efficiency for traffic sign classification by scaling the network’s depth, width and resolution through a process too complex for most researchers to achieve without implementing a model scaling method. </a:t>
            </a:r>
          </a:p>
        </p:txBody>
      </p:sp>
    </p:spTree>
    <p:extLst>
      <p:ext uri="{BB962C8B-B14F-4D97-AF65-F5344CB8AC3E}">
        <p14:creationId xmlns:p14="http://schemas.microsoft.com/office/powerpoint/2010/main" val="35292917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2175E2-BB80-CD94-AC5B-152D5AFCE66E}"/>
              </a:ext>
            </a:extLst>
          </p:cNvPr>
          <p:cNvSpPr>
            <a:spLocks noGrp="1"/>
          </p:cNvSpPr>
          <p:nvPr>
            <p:ph idx="1"/>
          </p:nvPr>
        </p:nvSpPr>
        <p:spPr>
          <a:xfrm>
            <a:off x="838200" y="862064"/>
            <a:ext cx="10515600" cy="4351338"/>
          </a:xfrm>
        </p:spPr>
        <p:txBody>
          <a:bodyPr>
            <a:normAutofit/>
          </a:bodyPr>
          <a:lstStyle/>
          <a:p>
            <a:pPr marL="0" indent="0" algn="just">
              <a:lnSpc>
                <a:spcPct val="150000"/>
              </a:lnSpc>
              <a:buNone/>
            </a:pPr>
            <a:r>
              <a:rPr lang="en-US" sz="1800" dirty="0">
                <a:latin typeface="Times New Roman" panose="02020603050405020304" pitchFamily="18" charset="0"/>
                <a:cs typeface="Times New Roman" panose="02020603050405020304" pitchFamily="18" charset="0"/>
              </a:rPr>
              <a:t>While there have been many advancements made in terms of algorithms and architecture for traffic sign recognition, it is not uncommon for single-model methods to show signs of insufficient generalization capability especially when comparing similar traffic signs visually like STOP and YIELD, or when utilizing imbalanced datasets in the training phase. The aforementioned limitations will subsequently result in the need for the use of more robust methods to properly represent the diverse feature space of each traffic sign.</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907468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31FBA-D37D-31A8-B79B-FC64D2643F0C}"/>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DATASET </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1E74B85-2FCE-9F39-9E4F-D31C8574F912}"/>
              </a:ext>
            </a:extLst>
          </p:cNvPr>
          <p:cNvSpPr>
            <a:spLocks noGrp="1"/>
          </p:cNvSpPr>
          <p:nvPr>
            <p:ph idx="1"/>
          </p:nvPr>
        </p:nvSpPr>
        <p:spPr>
          <a:xfrm>
            <a:off x="838200" y="1406013"/>
            <a:ext cx="10515600" cy="4770950"/>
          </a:xfrm>
        </p:spPr>
        <p:txBody>
          <a:bodyPr/>
          <a:lstStyle/>
          <a:p>
            <a:pPr marL="0" indent="0">
              <a:buNone/>
            </a:pPr>
            <a:r>
              <a:rPr lang="en-IN" b="1" dirty="0">
                <a:hlinkClick r:id="rId2">
                  <a:extLst>
                    <a:ext uri="{A12FA001-AC4F-418D-AE19-62706E023703}">
                      <ahyp:hlinkClr xmlns:ahyp="http://schemas.microsoft.com/office/drawing/2018/hyperlinkcolor" val="tx"/>
                    </a:ext>
                  </a:extLst>
                </a:hlinkClick>
              </a:rPr>
              <a:t>Link:</a:t>
            </a:r>
            <a:br>
              <a:rPr lang="en-IN" dirty="0">
                <a:solidFill>
                  <a:srgbClr val="0563C1"/>
                </a:solidFill>
                <a:hlinkClick r:id="rId2">
                  <a:extLst>
                    <a:ext uri="{A12FA001-AC4F-418D-AE19-62706E023703}">
                      <ahyp:hlinkClr xmlns:ahyp="http://schemas.microsoft.com/office/drawing/2018/hyperlinkcolor" val="tx"/>
                    </a:ext>
                  </a:extLst>
                </a:hlinkClick>
              </a:rPr>
            </a:br>
            <a:r>
              <a:rPr lang="en-IN" dirty="0">
                <a:solidFill>
                  <a:srgbClr val="0563C1"/>
                </a:solidFill>
                <a:hlinkClick r:id="rId2">
                  <a:extLst>
                    <a:ext uri="{A12FA001-AC4F-418D-AE19-62706E023703}">
                      <ahyp:hlinkClr xmlns:ahyp="http://schemas.microsoft.com/office/drawing/2018/hyperlinkcolor" val="tx"/>
                    </a:ext>
                  </a:extLst>
                </a:hlinkClick>
              </a:rPr>
              <a:t>https://www.kaggle.com/datasets/mmontiel/tiny-lisa-traffic-sign-detection-dataset</a:t>
            </a:r>
            <a:endParaRPr lang="en-IN" dirty="0">
              <a:solidFill>
                <a:srgbClr val="0563C1"/>
              </a:solidFill>
            </a:endParaRPr>
          </a:p>
          <a:p>
            <a:pPr marL="0" indent="0">
              <a:buNone/>
            </a:pPr>
            <a:endParaRPr lang="en-IN" dirty="0">
              <a:solidFill>
                <a:srgbClr val="0563C1"/>
              </a:solidFill>
            </a:endParaRPr>
          </a:p>
          <a:p>
            <a:pPr marL="0" indent="0">
              <a:buNone/>
            </a:pPr>
            <a:br>
              <a:rPr lang="en-IN" dirty="0"/>
            </a:br>
            <a:endParaRPr lang="en-IN" dirty="0"/>
          </a:p>
          <a:p>
            <a:pPr marL="0" indent="0">
              <a:buNone/>
            </a:pPr>
            <a:endParaRPr lang="en-IN" dirty="0"/>
          </a:p>
        </p:txBody>
      </p:sp>
      <p:pic>
        <p:nvPicPr>
          <p:cNvPr id="5" name="Picture 4">
            <a:extLst>
              <a:ext uri="{FF2B5EF4-FFF2-40B4-BE49-F238E27FC236}">
                <a16:creationId xmlns:a16="http://schemas.microsoft.com/office/drawing/2014/main" id="{EF572979-86B4-AEA8-5BC3-FECCF2A3EB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337" y="2991311"/>
            <a:ext cx="4672290" cy="3185652"/>
          </a:xfrm>
          <a:prstGeom prst="rect">
            <a:avLst/>
          </a:prstGeom>
        </p:spPr>
      </p:pic>
      <p:pic>
        <p:nvPicPr>
          <p:cNvPr id="7" name="Picture 6">
            <a:extLst>
              <a:ext uri="{FF2B5EF4-FFF2-40B4-BE49-F238E27FC236}">
                <a16:creationId xmlns:a16="http://schemas.microsoft.com/office/drawing/2014/main" id="{1D067CD8-7333-803F-E55C-9831BFC915A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10633" y="2991311"/>
            <a:ext cx="4247536" cy="3185652"/>
          </a:xfrm>
          <a:prstGeom prst="rect">
            <a:avLst/>
          </a:prstGeom>
        </p:spPr>
      </p:pic>
    </p:spTree>
    <p:extLst>
      <p:ext uri="{BB962C8B-B14F-4D97-AF65-F5344CB8AC3E}">
        <p14:creationId xmlns:p14="http://schemas.microsoft.com/office/powerpoint/2010/main" val="37089741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0E52F0E-9DD6-58CC-E08F-26DE92B301CD}"/>
              </a:ext>
            </a:extLst>
          </p:cNvPr>
          <p:cNvSpPr>
            <a:spLocks noGrp="1"/>
          </p:cNvSpPr>
          <p:nvPr>
            <p:ph idx="1"/>
          </p:nvPr>
        </p:nvSpPr>
        <p:spPr>
          <a:xfrm>
            <a:off x="838200" y="363794"/>
            <a:ext cx="10515600" cy="4351338"/>
          </a:xfrm>
        </p:spPr>
        <p:txBody>
          <a:bodyPr>
            <a:noAutofit/>
          </a:bodyPr>
          <a:lstStyle/>
          <a:p>
            <a:pPr marL="0" indent="0" algn="just">
              <a:lnSpc>
                <a:spcPct val="150000"/>
              </a:lnSpc>
              <a:buNone/>
            </a:pPr>
            <a:r>
              <a:rPr lang="en-US" sz="1600" b="1" dirty="0">
                <a:latin typeface="Times New Roman" panose="02020603050405020304" pitchFamily="18" charset="0"/>
                <a:cs typeface="Times New Roman" panose="02020603050405020304" pitchFamily="18" charset="0"/>
              </a:rPr>
              <a:t>Key Characteristics</a:t>
            </a:r>
          </a:p>
          <a:p>
            <a:pPr algn="just">
              <a:lnSpc>
                <a:spcPct val="150000"/>
              </a:lnSpc>
            </a:pPr>
            <a:r>
              <a:rPr lang="en-US" sz="1600" dirty="0">
                <a:latin typeface="Times New Roman" panose="02020603050405020304" pitchFamily="18" charset="0"/>
                <a:cs typeface="Times New Roman" panose="02020603050405020304" pitchFamily="18" charset="0"/>
              </a:rPr>
              <a:t>Total Images: Approximately 900 images. </a:t>
            </a:r>
          </a:p>
          <a:p>
            <a:pPr algn="just">
              <a:lnSpc>
                <a:spcPct val="150000"/>
              </a:lnSpc>
            </a:pPr>
            <a:r>
              <a:rPr lang="en-US" sz="1600" dirty="0">
                <a:latin typeface="Times New Roman" panose="02020603050405020304" pitchFamily="18" charset="0"/>
                <a:cs typeface="Times New Roman" panose="02020603050405020304" pitchFamily="18" charset="0"/>
              </a:rPr>
              <a:t>Object Classes: 9 traffic sign classes. </a:t>
            </a:r>
          </a:p>
          <a:p>
            <a:pPr algn="just">
              <a:lnSpc>
                <a:spcPct val="150000"/>
              </a:lnSpc>
            </a:pPr>
            <a:r>
              <a:rPr lang="en-US" sz="1600" dirty="0">
                <a:latin typeface="Times New Roman" panose="02020603050405020304" pitchFamily="18" charset="0"/>
                <a:cs typeface="Times New Roman" panose="02020603050405020304" pitchFamily="18" charset="0"/>
              </a:rPr>
              <a:t>Annotation Format: There is an annotations CSV file containing bounding box coordinates and class labels for each image. </a:t>
            </a:r>
          </a:p>
          <a:p>
            <a:pPr algn="just">
              <a:lnSpc>
                <a:spcPct val="150000"/>
              </a:lnSpc>
            </a:pPr>
            <a:r>
              <a:rPr lang="en-US" sz="1600" dirty="0">
                <a:latin typeface="Times New Roman" panose="02020603050405020304" pitchFamily="18" charset="0"/>
                <a:cs typeface="Times New Roman" panose="02020603050405020304" pitchFamily="18" charset="0"/>
              </a:rPr>
              <a:t>The dataset is a subset of the original LISA dataset, which in full form has 6,610 images and 47 classes, but Tiny LISA is reduced for simpler and faster model experimentation. </a:t>
            </a:r>
          </a:p>
          <a:p>
            <a:pPr marL="0" indent="0" algn="just">
              <a:lnSpc>
                <a:spcPct val="150000"/>
              </a:lnSpc>
              <a:buNone/>
            </a:pPr>
            <a:r>
              <a:rPr lang="en-US" sz="1600" b="1" dirty="0">
                <a:latin typeface="Times New Roman" panose="02020603050405020304" pitchFamily="18" charset="0"/>
                <a:cs typeface="Times New Roman" panose="02020603050405020304" pitchFamily="18" charset="0"/>
              </a:rPr>
              <a:t>Dataset Structure :</a:t>
            </a:r>
          </a:p>
          <a:p>
            <a:pPr marL="0" indent="0" algn="just">
              <a:lnSpc>
                <a:spcPct val="150000"/>
              </a:lnSpc>
              <a:buNone/>
            </a:pPr>
            <a:r>
              <a:rPr lang="en-US" sz="1600" dirty="0" err="1">
                <a:latin typeface="Times New Roman" panose="02020603050405020304" pitchFamily="18" charset="0"/>
                <a:cs typeface="Times New Roman" panose="02020603050405020304" pitchFamily="18" charset="0"/>
              </a:rPr>
              <a:t>db_lisa_tiny</a:t>
            </a:r>
            <a:r>
              <a:rPr lang="en-US" sz="1600" dirty="0">
                <a:latin typeface="Times New Roman" panose="02020603050405020304" pitchFamily="18" charset="0"/>
                <a:cs typeface="Times New Roman" panose="02020603050405020304" pitchFamily="18" charset="0"/>
              </a:rPr>
              <a:t>/</a:t>
            </a:r>
          </a:p>
          <a:p>
            <a:pPr marL="0" indent="0" algn="just">
              <a:lnSpc>
                <a:spcPct val="150000"/>
              </a:lnSpc>
              <a:buNone/>
            </a:pPr>
            <a:r>
              <a:rPr lang="en-US" sz="1600" dirty="0">
                <a:latin typeface="Times New Roman" panose="02020603050405020304" pitchFamily="18" charset="0"/>
                <a:cs typeface="Times New Roman" panose="02020603050405020304" pitchFamily="18" charset="0"/>
              </a:rPr>
              <a:t>├── annotations.csv</a:t>
            </a:r>
          </a:p>
          <a:p>
            <a:pPr marL="0" indent="0" algn="just">
              <a:lnSpc>
                <a:spcPct val="150000"/>
              </a:lnSpc>
              <a:buNone/>
            </a:pPr>
            <a:r>
              <a:rPr lang="en-US" sz="1600" dirty="0">
                <a:latin typeface="Times New Roman" panose="02020603050405020304" pitchFamily="18" charset="0"/>
                <a:cs typeface="Times New Roman" panose="02020603050405020304" pitchFamily="18" charset="0"/>
              </a:rPr>
              <a:t>├── sample_001.png</a:t>
            </a:r>
          </a:p>
          <a:p>
            <a:pPr marL="0" indent="0" algn="just">
              <a:lnSpc>
                <a:spcPct val="150000"/>
              </a:lnSpc>
              <a:buNone/>
            </a:pPr>
            <a:r>
              <a:rPr lang="en-US" sz="1600" dirty="0">
                <a:latin typeface="Times New Roman" panose="02020603050405020304" pitchFamily="18" charset="0"/>
                <a:cs typeface="Times New Roman" panose="02020603050405020304" pitchFamily="18" charset="0"/>
              </a:rPr>
              <a:t>├── sample_002.png</a:t>
            </a:r>
          </a:p>
          <a:p>
            <a:pPr marL="0" indent="0" algn="just">
              <a:lnSpc>
                <a:spcPct val="150000"/>
              </a:lnSpc>
              <a:buNone/>
            </a:pPr>
            <a:r>
              <a:rPr lang="en-US" sz="1600" dirty="0">
                <a:latin typeface="Times New Roman" panose="02020603050405020304" pitchFamily="18" charset="0"/>
                <a:cs typeface="Times New Roman" panose="02020603050405020304" pitchFamily="18" charset="0"/>
              </a:rPr>
              <a:t>...</a:t>
            </a:r>
          </a:p>
          <a:p>
            <a:pPr marL="0" indent="0" algn="just">
              <a:lnSpc>
                <a:spcPct val="150000"/>
              </a:lnSpc>
              <a:buNone/>
            </a:pPr>
            <a:r>
              <a:rPr lang="en-US" sz="1600" dirty="0">
                <a:latin typeface="Times New Roman" panose="02020603050405020304" pitchFamily="18" charset="0"/>
                <a:cs typeface="Times New Roman" panose="02020603050405020304" pitchFamily="18" charset="0"/>
              </a:rPr>
              <a:t>├── sample_900.png</a:t>
            </a:r>
          </a:p>
          <a:p>
            <a:pPr marL="0" indent="0" algn="just">
              <a:lnSpc>
                <a:spcPct val="150000"/>
              </a:lnSpc>
              <a:buNone/>
            </a:pP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010009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2D9F3B-F9B3-0A85-2EAD-1F71B66D07B5}"/>
              </a:ext>
            </a:extLst>
          </p:cNvPr>
          <p:cNvSpPr>
            <a:spLocks noGrp="1"/>
          </p:cNvSpPr>
          <p:nvPr>
            <p:ph type="title"/>
          </p:nvPr>
        </p:nvSpPr>
        <p:spPr>
          <a:xfrm>
            <a:off x="838200" y="375416"/>
            <a:ext cx="10515600" cy="1325563"/>
          </a:xfrm>
        </p:spPr>
        <p:txBody>
          <a:bodyPr/>
          <a:lstStyle/>
          <a:p>
            <a:r>
              <a:rPr lang="en-IN" b="1" dirty="0">
                <a:latin typeface="Times New Roman" panose="02020603050405020304" pitchFamily="18" charset="0"/>
                <a:cs typeface="Times New Roman" panose="02020603050405020304" pitchFamily="18" charset="0"/>
              </a:rPr>
              <a:t>Tools and Technologies Used:</a:t>
            </a:r>
          </a:p>
        </p:txBody>
      </p:sp>
      <p:sp>
        <p:nvSpPr>
          <p:cNvPr id="3" name="Content Placeholder 2">
            <a:extLst>
              <a:ext uri="{FF2B5EF4-FFF2-40B4-BE49-F238E27FC236}">
                <a16:creationId xmlns:a16="http://schemas.microsoft.com/office/drawing/2014/main" id="{21C056D4-11EC-6510-373D-35682140C459}"/>
              </a:ext>
            </a:extLst>
          </p:cNvPr>
          <p:cNvSpPr>
            <a:spLocks noGrp="1"/>
          </p:cNvSpPr>
          <p:nvPr>
            <p:ph idx="1"/>
          </p:nvPr>
        </p:nvSpPr>
        <p:spPr>
          <a:xfrm>
            <a:off x="838200" y="1887792"/>
            <a:ext cx="10515600" cy="6381137"/>
          </a:xfrm>
        </p:spPr>
        <p:txBody>
          <a:bodyPr>
            <a:noAutofit/>
          </a:bodyPr>
          <a:lstStyle/>
          <a:p>
            <a:pPr marL="0" indent="0" algn="just">
              <a:lnSpc>
                <a:spcPct val="100000"/>
              </a:lnSpc>
              <a:buNone/>
            </a:pPr>
            <a:r>
              <a:rPr lang="en-IN" sz="1600" dirty="0">
                <a:latin typeface="Times New Roman" panose="02020603050405020304" pitchFamily="18" charset="0"/>
                <a:cs typeface="Times New Roman" panose="02020603050405020304" pitchFamily="18" charset="0"/>
              </a:rPr>
              <a:t>1. Programming Language – Python</a:t>
            </a:r>
          </a:p>
          <a:p>
            <a:pPr marL="0" indent="0" algn="just">
              <a:lnSpc>
                <a:spcPct val="100000"/>
              </a:lnSpc>
              <a:buNone/>
            </a:pPr>
            <a:r>
              <a:rPr lang="en-IN" sz="1600" dirty="0">
                <a:latin typeface="Times New Roman" panose="02020603050405020304" pitchFamily="18" charset="0"/>
                <a:cs typeface="Times New Roman" panose="02020603050405020304" pitchFamily="18" charset="0"/>
              </a:rPr>
              <a:t>2. Deep Learning Framework – </a:t>
            </a:r>
            <a:r>
              <a:rPr lang="en-IN" sz="1600" dirty="0" err="1">
                <a:latin typeface="Times New Roman" panose="02020603050405020304" pitchFamily="18" charset="0"/>
                <a:cs typeface="Times New Roman" panose="02020603050405020304" pitchFamily="18" charset="0"/>
              </a:rPr>
              <a:t>PyTorch</a:t>
            </a:r>
            <a:endParaRPr lang="en-IN" sz="1600" dirty="0">
              <a:latin typeface="Times New Roman" panose="02020603050405020304" pitchFamily="18" charset="0"/>
              <a:cs typeface="Times New Roman" panose="02020603050405020304" pitchFamily="18" charset="0"/>
            </a:endParaRPr>
          </a:p>
          <a:p>
            <a:pPr marL="0" indent="0" algn="just">
              <a:lnSpc>
                <a:spcPct val="100000"/>
              </a:lnSpc>
              <a:buNone/>
            </a:pPr>
            <a:r>
              <a:rPr lang="en-IN" sz="1600" dirty="0">
                <a:latin typeface="Times New Roman" panose="02020603050405020304" pitchFamily="18" charset="0"/>
                <a:cs typeface="Times New Roman" panose="02020603050405020304" pitchFamily="18" charset="0"/>
              </a:rPr>
              <a:t>3. Pretrained Model Library – </a:t>
            </a:r>
            <a:r>
              <a:rPr lang="en-IN" sz="1600" dirty="0" err="1">
                <a:latin typeface="Times New Roman" panose="02020603050405020304" pitchFamily="18" charset="0"/>
                <a:cs typeface="Times New Roman" panose="02020603050405020304" pitchFamily="18" charset="0"/>
              </a:rPr>
              <a:t>Torchvision</a:t>
            </a:r>
            <a:endParaRPr lang="en-IN" sz="1600" dirty="0">
              <a:latin typeface="Times New Roman" panose="02020603050405020304" pitchFamily="18" charset="0"/>
              <a:cs typeface="Times New Roman" panose="02020603050405020304" pitchFamily="18" charset="0"/>
            </a:endParaRPr>
          </a:p>
          <a:p>
            <a:pPr marL="0" indent="0" algn="just">
              <a:lnSpc>
                <a:spcPct val="100000"/>
              </a:lnSpc>
              <a:buNone/>
            </a:pPr>
            <a:r>
              <a:rPr lang="en-IN" sz="1600" dirty="0">
                <a:latin typeface="Times New Roman" panose="02020603050405020304" pitchFamily="18" charset="0"/>
                <a:cs typeface="Times New Roman" panose="02020603050405020304" pitchFamily="18" charset="0"/>
              </a:rPr>
              <a:t>4. </a:t>
            </a:r>
            <a:r>
              <a:rPr lang="en-IN" sz="1600" dirty="0" err="1">
                <a:latin typeface="Times New Roman" panose="02020603050405020304" pitchFamily="18" charset="0"/>
                <a:cs typeface="Times New Roman" panose="02020603050405020304" pitchFamily="18" charset="0"/>
              </a:rPr>
              <a:t>Torchvision</a:t>
            </a:r>
            <a:r>
              <a:rPr lang="en-IN" sz="1600" dirty="0">
                <a:latin typeface="Times New Roman" panose="02020603050405020304" pitchFamily="18" charset="0"/>
                <a:cs typeface="Times New Roman" panose="02020603050405020304" pitchFamily="18" charset="0"/>
              </a:rPr>
              <a:t> was used to access pretrained models and standard datasets. The following architectures were implemented using pretrained weights:</a:t>
            </a:r>
          </a:p>
          <a:p>
            <a:pPr marL="0" indent="0" algn="just">
              <a:lnSpc>
                <a:spcPct val="100000"/>
              </a:lnSpc>
              <a:buNone/>
            </a:pPr>
            <a:r>
              <a:rPr lang="en-IN" sz="1600" dirty="0">
                <a:latin typeface="Times New Roman" panose="02020603050405020304" pitchFamily="18" charset="0"/>
                <a:cs typeface="Times New Roman" panose="02020603050405020304" pitchFamily="18" charset="0"/>
              </a:rPr>
              <a:t>ResNet18</a:t>
            </a:r>
          </a:p>
          <a:p>
            <a:pPr marL="0" indent="0" algn="just">
              <a:lnSpc>
                <a:spcPct val="100000"/>
              </a:lnSpc>
              <a:buNone/>
            </a:pPr>
            <a:r>
              <a:rPr lang="en-US" sz="1600" dirty="0">
                <a:latin typeface="Times New Roman" panose="02020603050405020304" pitchFamily="18" charset="0"/>
                <a:cs typeface="Times New Roman" panose="02020603050405020304" pitchFamily="18" charset="0"/>
              </a:rPr>
              <a:t>ResNet50</a:t>
            </a:r>
            <a:endParaRPr lang="en-IN" sz="1600" dirty="0">
              <a:latin typeface="Times New Roman" panose="02020603050405020304" pitchFamily="18" charset="0"/>
              <a:cs typeface="Times New Roman" panose="02020603050405020304" pitchFamily="18" charset="0"/>
            </a:endParaRPr>
          </a:p>
          <a:p>
            <a:pPr marL="0" indent="0" algn="just">
              <a:lnSpc>
                <a:spcPct val="100000"/>
              </a:lnSpc>
              <a:buNone/>
            </a:pPr>
            <a:r>
              <a:rPr lang="en-IN" sz="1600" dirty="0">
                <a:latin typeface="Times New Roman" panose="02020603050405020304" pitchFamily="18" charset="0"/>
                <a:cs typeface="Times New Roman" panose="02020603050405020304" pitchFamily="18" charset="0"/>
              </a:rPr>
              <a:t>EfficientNet-B0</a:t>
            </a:r>
          </a:p>
          <a:p>
            <a:pPr marL="0" indent="0" algn="just">
              <a:lnSpc>
                <a:spcPct val="100000"/>
              </a:lnSpc>
              <a:buNone/>
            </a:pPr>
            <a:r>
              <a:rPr lang="en-IN" sz="1600" dirty="0">
                <a:latin typeface="Times New Roman" panose="02020603050405020304" pitchFamily="18" charset="0"/>
                <a:cs typeface="Times New Roman" panose="02020603050405020304" pitchFamily="18" charset="0"/>
              </a:rPr>
              <a:t>DenseNet121</a:t>
            </a:r>
          </a:p>
          <a:p>
            <a:pPr marL="0" indent="0" algn="just">
              <a:lnSpc>
                <a:spcPct val="100000"/>
              </a:lnSpc>
              <a:buNone/>
            </a:pPr>
            <a:r>
              <a:rPr lang="en-IN" sz="1600" dirty="0">
                <a:latin typeface="Times New Roman" panose="02020603050405020304" pitchFamily="18" charset="0"/>
                <a:cs typeface="Times New Roman" panose="02020603050405020304" pitchFamily="18" charset="0"/>
              </a:rPr>
              <a:t>5. Visualization Tools - Matplotlib – Performance visualization</a:t>
            </a:r>
          </a:p>
          <a:p>
            <a:pPr marL="0" indent="0" algn="just">
              <a:lnSpc>
                <a:spcPct val="100000"/>
              </a:lnSpc>
              <a:buNone/>
            </a:pPr>
            <a:r>
              <a:rPr lang="en-IN" sz="1600" dirty="0">
                <a:latin typeface="Times New Roman" panose="02020603050405020304" pitchFamily="18" charset="0"/>
                <a:cs typeface="Times New Roman" panose="02020603050405020304" pitchFamily="18" charset="0"/>
              </a:rPr>
              <a:t>6. Development Environment - Kaggle Notebook</a:t>
            </a:r>
          </a:p>
          <a:p>
            <a:pPr marL="0" indent="0" algn="just">
              <a:lnSpc>
                <a:spcPct val="100000"/>
              </a:lnSpc>
              <a:buNone/>
            </a:pPr>
            <a:endParaRPr lang="en-IN" sz="1600" dirty="0">
              <a:latin typeface="Times New Roman" panose="02020603050405020304" pitchFamily="18" charset="0"/>
              <a:cs typeface="Times New Roman" panose="02020603050405020304" pitchFamily="18" charset="0"/>
            </a:endParaRPr>
          </a:p>
          <a:p>
            <a:pPr marL="0" indent="0" algn="just">
              <a:lnSpc>
                <a:spcPct val="100000"/>
              </a:lnSpc>
              <a:buNone/>
            </a:pP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011714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8E4986-AD32-8202-1330-ED3BC35C45A8}"/>
              </a:ext>
            </a:extLst>
          </p:cNvPr>
          <p:cNvSpPr>
            <a:spLocks noGrp="1"/>
          </p:cNvSpPr>
          <p:nvPr>
            <p:ph type="title"/>
          </p:nvPr>
        </p:nvSpPr>
        <p:spPr>
          <a:xfrm>
            <a:off x="838200" y="0"/>
            <a:ext cx="10515600" cy="1325563"/>
          </a:xfrm>
        </p:spPr>
        <p:txBody>
          <a:bodyPr/>
          <a:lstStyle/>
          <a:p>
            <a:r>
              <a:rPr lang="en-US" b="1" dirty="0">
                <a:latin typeface="Times New Roman" panose="02020603050405020304" pitchFamily="18" charset="0"/>
                <a:cs typeface="Times New Roman" panose="02020603050405020304" pitchFamily="18" charset="0"/>
              </a:rPr>
              <a:t>LITERATURE REVIEW</a:t>
            </a:r>
            <a:endParaRPr lang="en-IN" b="1" dirty="0">
              <a:latin typeface="Times New Roman" panose="02020603050405020304" pitchFamily="18" charset="0"/>
              <a:cs typeface="Times New Roman" panose="02020603050405020304" pitchFamily="18" charset="0"/>
            </a:endParaRPr>
          </a:p>
        </p:txBody>
      </p:sp>
      <p:graphicFrame>
        <p:nvGraphicFramePr>
          <p:cNvPr id="4" name="Content Placeholder 3">
            <a:extLst>
              <a:ext uri="{FF2B5EF4-FFF2-40B4-BE49-F238E27FC236}">
                <a16:creationId xmlns:a16="http://schemas.microsoft.com/office/drawing/2014/main" id="{EFDD2B66-6747-7CE2-0275-2DBD687AE0FE}"/>
              </a:ext>
            </a:extLst>
          </p:cNvPr>
          <p:cNvGraphicFramePr>
            <a:graphicFrameLocks noGrp="1"/>
          </p:cNvGraphicFramePr>
          <p:nvPr>
            <p:ph idx="1"/>
            <p:extLst>
              <p:ext uri="{D42A27DB-BD31-4B8C-83A1-F6EECF244321}">
                <p14:modId xmlns:p14="http://schemas.microsoft.com/office/powerpoint/2010/main" val="1595097737"/>
              </p:ext>
            </p:extLst>
          </p:nvPr>
        </p:nvGraphicFramePr>
        <p:xfrm>
          <a:off x="943897" y="1111045"/>
          <a:ext cx="10785990" cy="5552566"/>
        </p:xfrm>
        <a:graphic>
          <a:graphicData uri="http://schemas.openxmlformats.org/drawingml/2006/table">
            <a:tbl>
              <a:tblPr firstRow="1" firstCol="1" bandRow="1">
                <a:tableStyleId>{5C22544A-7EE6-4342-B048-85BDC9FD1C3A}</a:tableStyleId>
              </a:tblPr>
              <a:tblGrid>
                <a:gridCol w="1120877">
                  <a:extLst>
                    <a:ext uri="{9D8B030D-6E8A-4147-A177-3AD203B41FA5}">
                      <a16:colId xmlns:a16="http://schemas.microsoft.com/office/drawing/2014/main" val="1902938815"/>
                    </a:ext>
                  </a:extLst>
                </a:gridCol>
                <a:gridCol w="904568">
                  <a:extLst>
                    <a:ext uri="{9D8B030D-6E8A-4147-A177-3AD203B41FA5}">
                      <a16:colId xmlns:a16="http://schemas.microsoft.com/office/drawing/2014/main" val="2286241512"/>
                    </a:ext>
                  </a:extLst>
                </a:gridCol>
                <a:gridCol w="2772697">
                  <a:extLst>
                    <a:ext uri="{9D8B030D-6E8A-4147-A177-3AD203B41FA5}">
                      <a16:colId xmlns:a16="http://schemas.microsoft.com/office/drawing/2014/main" val="4200630268"/>
                    </a:ext>
                  </a:extLst>
                </a:gridCol>
                <a:gridCol w="3244645">
                  <a:extLst>
                    <a:ext uri="{9D8B030D-6E8A-4147-A177-3AD203B41FA5}">
                      <a16:colId xmlns:a16="http://schemas.microsoft.com/office/drawing/2014/main" val="1581560282"/>
                    </a:ext>
                  </a:extLst>
                </a:gridCol>
                <a:gridCol w="2743203">
                  <a:extLst>
                    <a:ext uri="{9D8B030D-6E8A-4147-A177-3AD203B41FA5}">
                      <a16:colId xmlns:a16="http://schemas.microsoft.com/office/drawing/2014/main" val="1146786128"/>
                    </a:ext>
                  </a:extLst>
                </a:gridCol>
              </a:tblGrid>
              <a:tr h="316062">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Reference No</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6694" marR="46694" marT="0" marB="0"/>
                </a:tc>
                <a:tc>
                  <a:txBody>
                    <a:bodyPr/>
                    <a:lstStyle/>
                    <a:p>
                      <a:pPr>
                        <a:lnSpc>
                          <a:spcPct val="115000"/>
                        </a:lnSpc>
                        <a:spcAft>
                          <a:spcPts val="1000"/>
                        </a:spcAft>
                        <a:buNone/>
                      </a:pPr>
                      <a:r>
                        <a:rPr lang="en-US" sz="1400" dirty="0">
                          <a:effectLst/>
                          <a:latin typeface="Times New Roman" panose="02020603050405020304" pitchFamily="18" charset="0"/>
                          <a:cs typeface="Times New Roman" panose="02020603050405020304" pitchFamily="18" charset="0"/>
                        </a:rPr>
                        <a:t>Year</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6694" marR="46694" marT="0" marB="0"/>
                </a:tc>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Proposed Model</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6694" marR="46694" marT="0" marB="0"/>
                </a:tc>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Advantages</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6694" marR="46694" marT="0" marB="0"/>
                </a:tc>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Limitations</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6694" marR="46694" marT="0" marB="0"/>
                </a:tc>
                <a:extLst>
                  <a:ext uri="{0D108BD9-81ED-4DB2-BD59-A6C34878D82A}">
                    <a16:rowId xmlns:a16="http://schemas.microsoft.com/office/drawing/2014/main" val="3960471356"/>
                  </a:ext>
                </a:extLst>
              </a:tr>
              <a:tr h="811194">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1</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6694" marR="46694" marT="0" marB="0"/>
                </a:tc>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2025</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6694" marR="46694" marT="0" marB="0"/>
                </a:tc>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NanoVerse YOLO + Vision-Language Contrastive Learning</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6694" marR="46694" marT="0" marB="0"/>
                </a:tc>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Improved small sign detection and long-tail class handling</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6694" marR="46694" marT="0" marB="0"/>
                </a:tc>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Complex architecture, higher computational cost</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6694" marR="46694" marT="0" marB="0"/>
                </a:tc>
                <a:extLst>
                  <a:ext uri="{0D108BD9-81ED-4DB2-BD59-A6C34878D82A}">
                    <a16:rowId xmlns:a16="http://schemas.microsoft.com/office/drawing/2014/main" val="358979065"/>
                  </a:ext>
                </a:extLst>
              </a:tr>
              <a:tr h="508214">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2</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6694" marR="46694" marT="0" marB="0"/>
                </a:tc>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2024</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6694" marR="46694" marT="0" marB="0"/>
                </a:tc>
                <a:tc>
                  <a:txBody>
                    <a:bodyPr/>
                    <a:lstStyle/>
                    <a:p>
                      <a:pPr>
                        <a:lnSpc>
                          <a:spcPct val="115000"/>
                        </a:lnSpc>
                        <a:spcAft>
                          <a:spcPts val="1000"/>
                        </a:spcAft>
                        <a:buNone/>
                      </a:pPr>
                      <a:r>
                        <a:rPr lang="en-US" sz="1400" dirty="0">
                          <a:effectLst/>
                          <a:latin typeface="Times New Roman" panose="02020603050405020304" pitchFamily="18" charset="0"/>
                          <a:cs typeface="Times New Roman" panose="02020603050405020304" pitchFamily="18" charset="0"/>
                        </a:rPr>
                        <a:t>Optimized CNN (GTSRB)</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6694" marR="46694" marT="0" marB="0"/>
                </a:tc>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High accuracy with simple architecture</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6694" marR="46694" marT="0" marB="0"/>
                </a:tc>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Limited real-world robustness</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6694" marR="46694" marT="0" marB="0"/>
                </a:tc>
                <a:extLst>
                  <a:ext uri="{0D108BD9-81ED-4DB2-BD59-A6C34878D82A}">
                    <a16:rowId xmlns:a16="http://schemas.microsoft.com/office/drawing/2014/main" val="2066627079"/>
                  </a:ext>
                </a:extLst>
              </a:tr>
              <a:tr h="646152">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3</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6694" marR="46694" marT="0" marB="0"/>
                </a:tc>
                <a:tc>
                  <a:txBody>
                    <a:bodyPr/>
                    <a:lstStyle/>
                    <a:p>
                      <a:pPr>
                        <a:lnSpc>
                          <a:spcPct val="115000"/>
                        </a:lnSpc>
                        <a:spcAft>
                          <a:spcPts val="1000"/>
                        </a:spcAft>
                        <a:buNone/>
                      </a:pPr>
                      <a:r>
                        <a:rPr lang="en-US" sz="1400" dirty="0">
                          <a:effectLst/>
                          <a:latin typeface="Times New Roman" panose="02020603050405020304" pitchFamily="18" charset="0"/>
                          <a:cs typeface="Times New Roman" panose="02020603050405020304" pitchFamily="18" charset="0"/>
                        </a:rPr>
                        <a:t>2024</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6694" marR="46694" marT="0" marB="0"/>
                </a:tc>
                <a:tc>
                  <a:txBody>
                    <a:bodyPr/>
                    <a:lstStyle/>
                    <a:p>
                      <a:pPr>
                        <a:lnSpc>
                          <a:spcPct val="115000"/>
                        </a:lnSpc>
                        <a:spcAft>
                          <a:spcPts val="1000"/>
                        </a:spcAft>
                        <a:buNone/>
                      </a:pPr>
                      <a:r>
                        <a:rPr lang="en-US" sz="1400" dirty="0">
                          <a:effectLst/>
                          <a:latin typeface="Times New Roman" panose="02020603050405020304" pitchFamily="18" charset="0"/>
                          <a:cs typeface="Times New Roman" panose="02020603050405020304" pitchFamily="18" charset="0"/>
                        </a:rPr>
                        <a:t>Vision Transformer based models</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6694" marR="46694" marT="0" marB="0"/>
                </a:tc>
                <a:tc>
                  <a:txBody>
                    <a:bodyPr/>
                    <a:lstStyle/>
                    <a:p>
                      <a:pPr>
                        <a:lnSpc>
                          <a:spcPct val="115000"/>
                        </a:lnSpc>
                        <a:spcAft>
                          <a:spcPts val="1000"/>
                        </a:spcAft>
                        <a:buNone/>
                      </a:pPr>
                      <a:r>
                        <a:rPr lang="en-US" sz="1400" dirty="0">
                          <a:effectLst/>
                          <a:latin typeface="Times New Roman" panose="02020603050405020304" pitchFamily="18" charset="0"/>
                          <a:cs typeface="Times New Roman" panose="02020603050405020304" pitchFamily="18" charset="0"/>
                        </a:rPr>
                        <a:t>Captures global context and multi-scale features</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6694" marR="46694" marT="0" marB="0"/>
                </a:tc>
                <a:tc>
                  <a:txBody>
                    <a:bodyPr/>
                    <a:lstStyle/>
                    <a:p>
                      <a:pPr>
                        <a:lnSpc>
                          <a:spcPct val="115000"/>
                        </a:lnSpc>
                        <a:spcAft>
                          <a:spcPts val="1000"/>
                        </a:spcAft>
                        <a:buNone/>
                      </a:pPr>
                      <a:r>
                        <a:rPr lang="en-US" sz="1400" dirty="0">
                          <a:effectLst/>
                          <a:latin typeface="Times New Roman" panose="02020603050405020304" pitchFamily="18" charset="0"/>
                          <a:cs typeface="Times New Roman" panose="02020603050405020304" pitchFamily="18" charset="0"/>
                        </a:rPr>
                        <a:t>High computational requirements</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6694" marR="46694" marT="0" marB="0"/>
                </a:tc>
                <a:extLst>
                  <a:ext uri="{0D108BD9-81ED-4DB2-BD59-A6C34878D82A}">
                    <a16:rowId xmlns:a16="http://schemas.microsoft.com/office/drawing/2014/main" val="4222438843"/>
                  </a:ext>
                </a:extLst>
              </a:tr>
              <a:tr h="646152">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4</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6694" marR="46694" marT="0" marB="0"/>
                </a:tc>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2024</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6694" marR="46694" marT="0" marB="0"/>
                </a:tc>
                <a:tc>
                  <a:txBody>
                    <a:bodyPr/>
                    <a:lstStyle/>
                    <a:p>
                      <a:pPr>
                        <a:lnSpc>
                          <a:spcPct val="115000"/>
                        </a:lnSpc>
                        <a:spcAft>
                          <a:spcPts val="1000"/>
                        </a:spcAft>
                        <a:buNone/>
                      </a:pPr>
                      <a:r>
                        <a:rPr lang="en-US" sz="1400" dirty="0">
                          <a:effectLst/>
                          <a:latin typeface="Times New Roman" panose="02020603050405020304" pitchFamily="18" charset="0"/>
                          <a:cs typeface="Times New Roman" panose="02020603050405020304" pitchFamily="18" charset="0"/>
                        </a:rPr>
                        <a:t>YOLO Systematic Review</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6694" marR="46694" marT="0" marB="0"/>
                </a:tc>
                <a:tc>
                  <a:txBody>
                    <a:bodyPr/>
                    <a:lstStyle/>
                    <a:p>
                      <a:pPr>
                        <a:lnSpc>
                          <a:spcPct val="115000"/>
                        </a:lnSpc>
                        <a:spcAft>
                          <a:spcPts val="1000"/>
                        </a:spcAft>
                        <a:buNone/>
                      </a:pPr>
                      <a:r>
                        <a:rPr lang="en-US" sz="1400" dirty="0">
                          <a:effectLst/>
                          <a:latin typeface="Times New Roman" panose="02020603050405020304" pitchFamily="18" charset="0"/>
                          <a:cs typeface="Times New Roman" panose="02020603050405020304" pitchFamily="18" charset="0"/>
                        </a:rPr>
                        <a:t>Summarizes real-time detection strengths</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6694" marR="46694" marT="0" marB="0"/>
                </a:tc>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No novel model contribution</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6694" marR="46694" marT="0" marB="0"/>
                </a:tc>
                <a:extLst>
                  <a:ext uri="{0D108BD9-81ED-4DB2-BD59-A6C34878D82A}">
                    <a16:rowId xmlns:a16="http://schemas.microsoft.com/office/drawing/2014/main" val="614265811"/>
                  </a:ext>
                </a:extLst>
              </a:tr>
              <a:tr h="646152">
                <a:tc>
                  <a:txBody>
                    <a:bodyPr/>
                    <a:lstStyle/>
                    <a:p>
                      <a:pPr>
                        <a:lnSpc>
                          <a:spcPct val="115000"/>
                        </a:lnSpc>
                        <a:spcAft>
                          <a:spcPts val="1000"/>
                        </a:spcAft>
                        <a:buNone/>
                      </a:pPr>
                      <a:r>
                        <a:rPr lang="en-US" sz="1400" dirty="0">
                          <a:effectLst/>
                          <a:latin typeface="Times New Roman" panose="02020603050405020304" pitchFamily="18" charset="0"/>
                          <a:cs typeface="Times New Roman" panose="02020603050405020304" pitchFamily="18" charset="0"/>
                        </a:rPr>
                        <a:t>5</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6694" marR="46694" marT="0" marB="0"/>
                </a:tc>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2025</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6694" marR="46694" marT="0" marB="0"/>
                </a:tc>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YOLOv5 with optimized anchors</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6694" marR="46694" marT="0" marB="0"/>
                </a:tc>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Improved small object detection</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6694" marR="46694" marT="0" marB="0"/>
                </a:tc>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Performance drops in cluttered scenes</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6694" marR="46694" marT="0" marB="0"/>
                </a:tc>
                <a:extLst>
                  <a:ext uri="{0D108BD9-81ED-4DB2-BD59-A6C34878D82A}">
                    <a16:rowId xmlns:a16="http://schemas.microsoft.com/office/drawing/2014/main" val="1831172823"/>
                  </a:ext>
                </a:extLst>
              </a:tr>
              <a:tr h="508214">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6</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6694" marR="46694" marT="0" marB="0"/>
                </a:tc>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2025</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6694" marR="46694" marT="0" marB="0"/>
                </a:tc>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YOLO-BS (YOLOv8 variant)</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6694" marR="46694" marT="0" marB="0"/>
                </a:tc>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Strong dataset-specific performance</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6694" marR="46694" marT="0" marB="0"/>
                </a:tc>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Limited cross-dataset generalization</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6694" marR="46694" marT="0" marB="0"/>
                </a:tc>
                <a:extLst>
                  <a:ext uri="{0D108BD9-81ED-4DB2-BD59-A6C34878D82A}">
                    <a16:rowId xmlns:a16="http://schemas.microsoft.com/office/drawing/2014/main" val="2333316410"/>
                  </a:ext>
                </a:extLst>
              </a:tr>
              <a:tr h="481106">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7</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6694" marR="46694" marT="0" marB="0"/>
                </a:tc>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2024</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6694" marR="46694" marT="0" marB="0"/>
                </a:tc>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TrafficSignNet (CNN)</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6694" marR="46694" marT="0" marB="0"/>
                </a:tc>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High classification accuracy</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6694" marR="46694" marT="0" marB="0"/>
                </a:tc>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Detection capability limited</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6694" marR="46694" marT="0" marB="0"/>
                </a:tc>
                <a:extLst>
                  <a:ext uri="{0D108BD9-81ED-4DB2-BD59-A6C34878D82A}">
                    <a16:rowId xmlns:a16="http://schemas.microsoft.com/office/drawing/2014/main" val="372231792"/>
                  </a:ext>
                </a:extLst>
              </a:tr>
              <a:tr h="481106">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8</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6694" marR="46694" marT="0" marB="0"/>
                </a:tc>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2023</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6694" marR="46694" marT="0" marB="0"/>
                </a:tc>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Efficient Vision Transformer</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6694" marR="46694" marT="0" marB="0"/>
                </a:tc>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Improved feature extraction</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6694" marR="46694" marT="0" marB="0"/>
                </a:tc>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Transformer overhead</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6694" marR="46694" marT="0" marB="0"/>
                </a:tc>
                <a:extLst>
                  <a:ext uri="{0D108BD9-81ED-4DB2-BD59-A6C34878D82A}">
                    <a16:rowId xmlns:a16="http://schemas.microsoft.com/office/drawing/2014/main" val="890340081"/>
                  </a:ext>
                </a:extLst>
              </a:tr>
              <a:tr h="508214">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9</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6694" marR="46694" marT="0" marB="0"/>
                </a:tc>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2024</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6694" marR="46694" marT="0" marB="0"/>
                </a:tc>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CNN/ResNet/VGG/EfficientNet comparison</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6694" marR="46694" marT="0" marB="0"/>
                </a:tc>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Comprehensive performance analysis</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6694" marR="46694" marT="0" marB="0"/>
                </a:tc>
                <a:tc>
                  <a:txBody>
                    <a:bodyPr/>
                    <a:lstStyle/>
                    <a:p>
                      <a:pPr>
                        <a:lnSpc>
                          <a:spcPct val="115000"/>
                        </a:lnSpc>
                        <a:spcAft>
                          <a:spcPts val="1000"/>
                        </a:spcAft>
                        <a:buNone/>
                      </a:pPr>
                      <a:r>
                        <a:rPr lang="en-US" sz="1400" dirty="0">
                          <a:effectLst/>
                          <a:latin typeface="Times New Roman" panose="02020603050405020304" pitchFamily="18" charset="0"/>
                          <a:cs typeface="Times New Roman" panose="02020603050405020304" pitchFamily="18" charset="0"/>
                        </a:rPr>
                        <a:t>Focus on classification only</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6694" marR="46694" marT="0" marB="0"/>
                </a:tc>
                <a:extLst>
                  <a:ext uri="{0D108BD9-81ED-4DB2-BD59-A6C34878D82A}">
                    <a16:rowId xmlns:a16="http://schemas.microsoft.com/office/drawing/2014/main" val="3913956764"/>
                  </a:ext>
                </a:extLst>
              </a:tr>
            </a:tbl>
          </a:graphicData>
        </a:graphic>
      </p:graphicFrame>
    </p:spTree>
    <p:extLst>
      <p:ext uri="{BB962C8B-B14F-4D97-AF65-F5344CB8AC3E}">
        <p14:creationId xmlns:p14="http://schemas.microsoft.com/office/powerpoint/2010/main" val="28770257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44E9168D-244D-19E1-6EB5-DF5EA4E5299B}"/>
              </a:ext>
            </a:extLst>
          </p:cNvPr>
          <p:cNvGraphicFramePr>
            <a:graphicFrameLocks noGrp="1"/>
          </p:cNvGraphicFramePr>
          <p:nvPr>
            <p:extLst>
              <p:ext uri="{D42A27DB-BD31-4B8C-83A1-F6EECF244321}">
                <p14:modId xmlns:p14="http://schemas.microsoft.com/office/powerpoint/2010/main" val="3025126782"/>
              </p:ext>
            </p:extLst>
          </p:nvPr>
        </p:nvGraphicFramePr>
        <p:xfrm>
          <a:off x="694481" y="277793"/>
          <a:ext cx="11076970" cy="5748896"/>
        </p:xfrm>
        <a:graphic>
          <a:graphicData uri="http://schemas.openxmlformats.org/drawingml/2006/table">
            <a:tbl>
              <a:tblPr firstRow="1" firstCol="1" bandRow="1">
                <a:tableStyleId>{5C22544A-7EE6-4342-B048-85BDC9FD1C3A}</a:tableStyleId>
              </a:tblPr>
              <a:tblGrid>
                <a:gridCol w="849184">
                  <a:extLst>
                    <a:ext uri="{9D8B030D-6E8A-4147-A177-3AD203B41FA5}">
                      <a16:colId xmlns:a16="http://schemas.microsoft.com/office/drawing/2014/main" val="3161025574"/>
                    </a:ext>
                  </a:extLst>
                </a:gridCol>
                <a:gridCol w="1170038">
                  <a:extLst>
                    <a:ext uri="{9D8B030D-6E8A-4147-A177-3AD203B41FA5}">
                      <a16:colId xmlns:a16="http://schemas.microsoft.com/office/drawing/2014/main" val="2569494937"/>
                    </a:ext>
                  </a:extLst>
                </a:gridCol>
                <a:gridCol w="2831691">
                  <a:extLst>
                    <a:ext uri="{9D8B030D-6E8A-4147-A177-3AD203B41FA5}">
                      <a16:colId xmlns:a16="http://schemas.microsoft.com/office/drawing/2014/main" val="907391296"/>
                    </a:ext>
                  </a:extLst>
                </a:gridCol>
                <a:gridCol w="3185651">
                  <a:extLst>
                    <a:ext uri="{9D8B030D-6E8A-4147-A177-3AD203B41FA5}">
                      <a16:colId xmlns:a16="http://schemas.microsoft.com/office/drawing/2014/main" val="193171574"/>
                    </a:ext>
                  </a:extLst>
                </a:gridCol>
                <a:gridCol w="3040406">
                  <a:extLst>
                    <a:ext uri="{9D8B030D-6E8A-4147-A177-3AD203B41FA5}">
                      <a16:colId xmlns:a16="http://schemas.microsoft.com/office/drawing/2014/main" val="1852265308"/>
                    </a:ext>
                  </a:extLst>
                </a:gridCol>
              </a:tblGrid>
              <a:tr h="501437">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10</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3433" marR="43433" marT="0" marB="0"/>
                </a:tc>
                <a:tc>
                  <a:txBody>
                    <a:bodyPr/>
                    <a:lstStyle/>
                    <a:p>
                      <a:pPr>
                        <a:lnSpc>
                          <a:spcPct val="115000"/>
                        </a:lnSpc>
                        <a:spcAft>
                          <a:spcPts val="1000"/>
                        </a:spcAft>
                        <a:buNone/>
                      </a:pPr>
                      <a:r>
                        <a:rPr lang="en-US" sz="1400" dirty="0">
                          <a:effectLst/>
                          <a:latin typeface="Times New Roman" panose="02020603050405020304" pitchFamily="18" charset="0"/>
                          <a:cs typeface="Times New Roman" panose="02020603050405020304" pitchFamily="18" charset="0"/>
                        </a:rPr>
                        <a:t>2023</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3433" marR="43433" marT="0" marB="0"/>
                </a:tc>
                <a:tc>
                  <a:txBody>
                    <a:bodyPr/>
                    <a:lstStyle/>
                    <a:p>
                      <a:pPr>
                        <a:lnSpc>
                          <a:spcPct val="115000"/>
                        </a:lnSpc>
                        <a:spcAft>
                          <a:spcPts val="1000"/>
                        </a:spcAft>
                        <a:buNone/>
                      </a:pPr>
                      <a:r>
                        <a:rPr lang="en-US" sz="1400" dirty="0">
                          <a:effectLst/>
                          <a:latin typeface="Times New Roman" panose="02020603050405020304" pitchFamily="18" charset="0"/>
                          <a:cs typeface="Times New Roman" panose="02020603050405020304" pitchFamily="18" charset="0"/>
                        </a:rPr>
                        <a:t>Improved YOLOv4-tiny</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3433" marR="43433" marT="0" marB="0"/>
                </a:tc>
                <a:tc>
                  <a:txBody>
                    <a:bodyPr/>
                    <a:lstStyle/>
                    <a:p>
                      <a:pPr>
                        <a:lnSpc>
                          <a:spcPct val="115000"/>
                        </a:lnSpc>
                        <a:spcAft>
                          <a:spcPts val="1000"/>
                        </a:spcAft>
                        <a:buNone/>
                      </a:pPr>
                      <a:r>
                        <a:rPr lang="en-US" sz="1400" dirty="0">
                          <a:effectLst/>
                          <a:latin typeface="Times New Roman" panose="02020603050405020304" pitchFamily="18" charset="0"/>
                          <a:cs typeface="Times New Roman" panose="02020603050405020304" pitchFamily="18" charset="0"/>
                        </a:rPr>
                        <a:t>Reduced parameters, faster inference</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3433" marR="43433" marT="0" marB="0"/>
                </a:tc>
                <a:tc>
                  <a:txBody>
                    <a:bodyPr/>
                    <a:lstStyle/>
                    <a:p>
                      <a:pPr>
                        <a:lnSpc>
                          <a:spcPct val="115000"/>
                        </a:lnSpc>
                        <a:spcAft>
                          <a:spcPts val="1000"/>
                        </a:spcAft>
                        <a:buNone/>
                      </a:pPr>
                      <a:r>
                        <a:rPr lang="en-US" sz="1400" dirty="0">
                          <a:effectLst/>
                          <a:latin typeface="Times New Roman" panose="02020603050405020304" pitchFamily="18" charset="0"/>
                          <a:cs typeface="Times New Roman" panose="02020603050405020304" pitchFamily="18" charset="0"/>
                        </a:rPr>
                        <a:t>Lower accuracy than newer YOLO models</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3433" marR="43433" marT="0" marB="0"/>
                </a:tc>
                <a:extLst>
                  <a:ext uri="{0D108BD9-81ED-4DB2-BD59-A6C34878D82A}">
                    <a16:rowId xmlns:a16="http://schemas.microsoft.com/office/drawing/2014/main" val="710808808"/>
                  </a:ext>
                </a:extLst>
              </a:tr>
              <a:tr h="501437">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11</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3433" marR="43433" marT="0" marB="0"/>
                </a:tc>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2025</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3433" marR="43433" marT="0" marB="0"/>
                </a:tc>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DP-YOLO (YOLOv8 variant)</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3433" marR="43433" marT="0" marB="0"/>
                </a:tc>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Lightweight, edge-device friendly</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3433" marR="43433" marT="0" marB="0"/>
                </a:tc>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Complex integration</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3433" marR="43433" marT="0" marB="0"/>
                </a:tc>
                <a:extLst>
                  <a:ext uri="{0D108BD9-81ED-4DB2-BD59-A6C34878D82A}">
                    <a16:rowId xmlns:a16="http://schemas.microsoft.com/office/drawing/2014/main" val="2519643326"/>
                  </a:ext>
                </a:extLst>
              </a:tr>
              <a:tr h="635529">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12</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3433" marR="43433" marT="0" marB="0"/>
                </a:tc>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2024</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3433" marR="43433" marT="0" marB="0"/>
                </a:tc>
                <a:tc>
                  <a:txBody>
                    <a:bodyPr/>
                    <a:lstStyle/>
                    <a:p>
                      <a:pPr>
                        <a:lnSpc>
                          <a:spcPct val="115000"/>
                        </a:lnSpc>
                        <a:spcAft>
                          <a:spcPts val="1000"/>
                        </a:spcAft>
                        <a:buNone/>
                      </a:pPr>
                      <a:r>
                        <a:rPr lang="en-US" sz="1400" dirty="0">
                          <a:effectLst/>
                          <a:latin typeface="Times New Roman" panose="02020603050405020304" pitchFamily="18" charset="0"/>
                          <a:cs typeface="Times New Roman" panose="02020603050405020304" pitchFamily="18" charset="0"/>
                        </a:rPr>
                        <a:t>TSD-YOLO with SPD module</a:t>
                      </a:r>
                      <a:endParaRPr lang="en-IN" sz="1400" dirty="0">
                        <a:effectLst/>
                        <a:latin typeface="Times New Roman" panose="02020603050405020304" pitchFamily="18" charset="0"/>
                        <a:cs typeface="Times New Roman" panose="02020603050405020304" pitchFamily="18" charset="0"/>
                      </a:endParaRPr>
                    </a:p>
                    <a:p>
                      <a:pPr>
                        <a:lnSpc>
                          <a:spcPct val="115000"/>
                        </a:lnSpc>
                        <a:spcAft>
                          <a:spcPts val="1000"/>
                        </a:spcAft>
                        <a:buNone/>
                      </a:pPr>
                      <a:r>
                        <a:rPr lang="en-US" sz="1400" dirty="0">
                          <a:effectLst/>
                          <a:latin typeface="Times New Roman" panose="02020603050405020304" pitchFamily="18" charset="0"/>
                          <a:cs typeface="Times New Roman" panose="02020603050405020304" pitchFamily="18" charset="0"/>
                        </a:rPr>
                        <a:t> </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3433" marR="43433" marT="0" marB="0"/>
                </a:tc>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Enhanced small-object detection</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3433" marR="43433" marT="0" marB="0"/>
                </a:tc>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Increased training complexity</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3433" marR="43433" marT="0" marB="0"/>
                </a:tc>
                <a:extLst>
                  <a:ext uri="{0D108BD9-81ED-4DB2-BD59-A6C34878D82A}">
                    <a16:rowId xmlns:a16="http://schemas.microsoft.com/office/drawing/2014/main" val="2479543539"/>
                  </a:ext>
                </a:extLst>
              </a:tr>
              <a:tr h="501437">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13</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3433" marR="43433" marT="0" marB="0"/>
                </a:tc>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2025</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3433" marR="43433" marT="0" marB="0"/>
                </a:tc>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YOLO-LLTS (Low-light)</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3433" marR="43433" marT="0" marB="0"/>
                </a:tc>
                <a:tc>
                  <a:txBody>
                    <a:bodyPr/>
                    <a:lstStyle/>
                    <a:p>
                      <a:pPr>
                        <a:lnSpc>
                          <a:spcPct val="115000"/>
                        </a:lnSpc>
                        <a:spcAft>
                          <a:spcPts val="1000"/>
                        </a:spcAft>
                        <a:buNone/>
                      </a:pPr>
                      <a:r>
                        <a:rPr lang="en-US" sz="1400" dirty="0">
                          <a:effectLst/>
                          <a:latin typeface="Times New Roman" panose="02020603050405020304" pitchFamily="18" charset="0"/>
                          <a:cs typeface="Times New Roman" panose="02020603050405020304" pitchFamily="18" charset="0"/>
                        </a:rPr>
                        <a:t>Robust low-light detection</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3433" marR="43433" marT="0" marB="0"/>
                </a:tc>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Limited to low-light scenarios</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3433" marR="43433" marT="0" marB="0"/>
                </a:tc>
                <a:extLst>
                  <a:ext uri="{0D108BD9-81ED-4DB2-BD59-A6C34878D82A}">
                    <a16:rowId xmlns:a16="http://schemas.microsoft.com/office/drawing/2014/main" val="770583189"/>
                  </a:ext>
                </a:extLst>
              </a:tr>
              <a:tr h="501437">
                <a:tc>
                  <a:txBody>
                    <a:bodyPr/>
                    <a:lstStyle/>
                    <a:p>
                      <a:pPr>
                        <a:lnSpc>
                          <a:spcPct val="115000"/>
                        </a:lnSpc>
                        <a:spcAft>
                          <a:spcPts val="1000"/>
                        </a:spcAft>
                        <a:buNone/>
                      </a:pPr>
                      <a:r>
                        <a:rPr lang="en-US" sz="1400" dirty="0">
                          <a:effectLst/>
                          <a:latin typeface="Times New Roman" panose="02020603050405020304" pitchFamily="18" charset="0"/>
                          <a:cs typeface="Times New Roman" panose="02020603050405020304" pitchFamily="18" charset="0"/>
                        </a:rPr>
                        <a:t>14</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3433" marR="43433" marT="0" marB="0"/>
                </a:tc>
                <a:tc>
                  <a:txBody>
                    <a:bodyPr/>
                    <a:lstStyle/>
                    <a:p>
                      <a:pPr>
                        <a:lnSpc>
                          <a:spcPct val="115000"/>
                        </a:lnSpc>
                        <a:spcAft>
                          <a:spcPts val="1000"/>
                        </a:spcAft>
                        <a:buNone/>
                      </a:pPr>
                      <a:r>
                        <a:rPr lang="en-US" sz="1400" dirty="0">
                          <a:effectLst/>
                          <a:latin typeface="Times New Roman" panose="02020603050405020304" pitchFamily="18" charset="0"/>
                          <a:cs typeface="Times New Roman" panose="02020603050405020304" pitchFamily="18" charset="0"/>
                        </a:rPr>
                        <a:t>2024</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3433" marR="43433" marT="0" marB="0"/>
                </a:tc>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YOLO-CCA (Context-based YOLOv7)</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3433" marR="43433" marT="0" marB="0"/>
                </a:tc>
                <a:tc>
                  <a:txBody>
                    <a:bodyPr/>
                    <a:lstStyle/>
                    <a:p>
                      <a:pPr>
                        <a:lnSpc>
                          <a:spcPct val="115000"/>
                        </a:lnSpc>
                        <a:spcAft>
                          <a:spcPts val="1000"/>
                        </a:spcAft>
                        <a:buNone/>
                      </a:pPr>
                      <a:r>
                        <a:rPr lang="en-US" sz="1400" dirty="0">
                          <a:effectLst/>
                          <a:latin typeface="Times New Roman" panose="02020603050405020304" pitchFamily="18" charset="0"/>
                          <a:cs typeface="Times New Roman" panose="02020603050405020304" pitchFamily="18" charset="0"/>
                        </a:rPr>
                        <a:t>Better context awareness</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3433" marR="43433" marT="0" marB="0"/>
                </a:tc>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Dependent on older YOLO version</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3433" marR="43433" marT="0" marB="0"/>
                </a:tc>
                <a:extLst>
                  <a:ext uri="{0D108BD9-81ED-4DB2-BD59-A6C34878D82A}">
                    <a16:rowId xmlns:a16="http://schemas.microsoft.com/office/drawing/2014/main" val="3099750092"/>
                  </a:ext>
                </a:extLst>
              </a:tr>
              <a:tr h="501437">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15</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3433" marR="43433" marT="0" marB="0"/>
                </a:tc>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2024</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3433" marR="43433" marT="0" marB="0"/>
                </a:tc>
                <a:tc>
                  <a:txBody>
                    <a:bodyPr/>
                    <a:lstStyle/>
                    <a:p>
                      <a:pPr>
                        <a:lnSpc>
                          <a:spcPct val="115000"/>
                        </a:lnSpc>
                        <a:spcAft>
                          <a:spcPts val="1000"/>
                        </a:spcAft>
                        <a:buNone/>
                      </a:pPr>
                      <a:r>
                        <a:rPr lang="en-US" sz="1400" dirty="0" err="1">
                          <a:effectLst/>
                          <a:latin typeface="Times New Roman" panose="02020603050405020304" pitchFamily="18" charset="0"/>
                          <a:cs typeface="Times New Roman" panose="02020603050405020304" pitchFamily="18" charset="0"/>
                        </a:rPr>
                        <a:t>EMDFNet</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3433" marR="43433" marT="0" marB="0"/>
                </a:tc>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Strong multi-scale feature fusion</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3433" marR="43433" marT="0" marB="0"/>
                </a:tc>
                <a:tc>
                  <a:txBody>
                    <a:bodyPr/>
                    <a:lstStyle/>
                    <a:p>
                      <a:pPr>
                        <a:lnSpc>
                          <a:spcPct val="115000"/>
                        </a:lnSpc>
                        <a:spcAft>
                          <a:spcPts val="1000"/>
                        </a:spcAft>
                        <a:buNone/>
                      </a:pPr>
                      <a:r>
                        <a:rPr lang="en-US" sz="1400" dirty="0">
                          <a:effectLst/>
                          <a:latin typeface="Times New Roman" panose="02020603050405020304" pitchFamily="18" charset="0"/>
                          <a:cs typeface="Times New Roman" panose="02020603050405020304" pitchFamily="18" charset="0"/>
                        </a:rPr>
                        <a:t>Higher computational cost</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3433" marR="43433" marT="0" marB="0"/>
                </a:tc>
                <a:extLst>
                  <a:ext uri="{0D108BD9-81ED-4DB2-BD59-A6C34878D82A}">
                    <a16:rowId xmlns:a16="http://schemas.microsoft.com/office/drawing/2014/main" val="2320576409"/>
                  </a:ext>
                </a:extLst>
              </a:tr>
              <a:tr h="644120">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16</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3433" marR="43433" marT="0" marB="0"/>
                </a:tc>
                <a:tc>
                  <a:txBody>
                    <a:bodyPr/>
                    <a:lstStyle/>
                    <a:p>
                      <a:pPr>
                        <a:lnSpc>
                          <a:spcPct val="115000"/>
                        </a:lnSpc>
                        <a:spcAft>
                          <a:spcPts val="1000"/>
                        </a:spcAft>
                        <a:buNone/>
                      </a:pPr>
                      <a:r>
                        <a:rPr lang="en-US" sz="1400" dirty="0">
                          <a:effectLst/>
                          <a:latin typeface="Times New Roman" panose="02020603050405020304" pitchFamily="18" charset="0"/>
                          <a:cs typeface="Times New Roman" panose="02020603050405020304" pitchFamily="18" charset="0"/>
                        </a:rPr>
                        <a:t>2025</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3433" marR="43433" marT="0" marB="0"/>
                </a:tc>
                <a:tc>
                  <a:txBody>
                    <a:bodyPr/>
                    <a:lstStyle/>
                    <a:p>
                      <a:pPr>
                        <a:lnSpc>
                          <a:spcPct val="115000"/>
                        </a:lnSpc>
                        <a:spcAft>
                          <a:spcPts val="1000"/>
                        </a:spcAft>
                        <a:buNone/>
                      </a:pPr>
                      <a:r>
                        <a:rPr lang="en-US" sz="1400" dirty="0">
                          <a:effectLst/>
                          <a:latin typeface="Times New Roman" panose="02020603050405020304" pitchFamily="18" charset="0"/>
                          <a:cs typeface="Times New Roman" panose="02020603050405020304" pitchFamily="18" charset="0"/>
                        </a:rPr>
                        <a:t>Two-phase YOLOv8 + CNN</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3433" marR="43433" marT="0" marB="0"/>
                </a:tc>
                <a:tc>
                  <a:txBody>
                    <a:bodyPr/>
                    <a:lstStyle/>
                    <a:p>
                      <a:pPr>
                        <a:lnSpc>
                          <a:spcPct val="115000"/>
                        </a:lnSpc>
                        <a:spcAft>
                          <a:spcPts val="1000"/>
                        </a:spcAft>
                        <a:buNone/>
                      </a:pPr>
                      <a:r>
                        <a:rPr lang="en-US" sz="1400" dirty="0">
                          <a:effectLst/>
                          <a:latin typeface="Times New Roman" panose="02020603050405020304" pitchFamily="18" charset="0"/>
                          <a:cs typeface="Times New Roman" panose="02020603050405020304" pitchFamily="18" charset="0"/>
                        </a:rPr>
                        <a:t>High detection and classification accuracy</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3433" marR="43433" marT="0" marB="0"/>
                </a:tc>
                <a:tc>
                  <a:txBody>
                    <a:bodyPr/>
                    <a:lstStyle/>
                    <a:p>
                      <a:pPr>
                        <a:lnSpc>
                          <a:spcPct val="115000"/>
                        </a:lnSpc>
                        <a:spcAft>
                          <a:spcPts val="1000"/>
                        </a:spcAft>
                        <a:buNone/>
                      </a:pPr>
                      <a:r>
                        <a:rPr lang="en-US" sz="1400" dirty="0">
                          <a:effectLst/>
                          <a:latin typeface="Times New Roman" panose="02020603050405020304" pitchFamily="18" charset="0"/>
                          <a:cs typeface="Times New Roman" panose="02020603050405020304" pitchFamily="18" charset="0"/>
                        </a:rPr>
                        <a:t>Pipeline complexity</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3433" marR="43433" marT="0" marB="0"/>
                </a:tc>
                <a:extLst>
                  <a:ext uri="{0D108BD9-81ED-4DB2-BD59-A6C34878D82A}">
                    <a16:rowId xmlns:a16="http://schemas.microsoft.com/office/drawing/2014/main" val="1601525241"/>
                  </a:ext>
                </a:extLst>
              </a:tr>
              <a:tr h="501437">
                <a:tc>
                  <a:txBody>
                    <a:bodyPr/>
                    <a:lstStyle/>
                    <a:p>
                      <a:pPr>
                        <a:lnSpc>
                          <a:spcPct val="115000"/>
                        </a:lnSpc>
                        <a:spcAft>
                          <a:spcPts val="1000"/>
                        </a:spcAft>
                        <a:buNone/>
                      </a:pPr>
                      <a:r>
                        <a:rPr lang="en-US" sz="1400" dirty="0">
                          <a:effectLst/>
                          <a:latin typeface="Times New Roman" panose="02020603050405020304" pitchFamily="18" charset="0"/>
                          <a:cs typeface="Times New Roman" panose="02020603050405020304" pitchFamily="18" charset="0"/>
                        </a:rPr>
                        <a:t>17</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3433" marR="43433" marT="0" marB="0"/>
                </a:tc>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2025</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3433" marR="43433" marT="0" marB="0"/>
                </a:tc>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YOLO-based Survey</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3433" marR="43433" marT="0" marB="0"/>
                </a:tc>
                <a:tc>
                  <a:txBody>
                    <a:bodyPr/>
                    <a:lstStyle/>
                    <a:p>
                      <a:pPr>
                        <a:lnSpc>
                          <a:spcPct val="115000"/>
                        </a:lnSpc>
                        <a:spcAft>
                          <a:spcPts val="1000"/>
                        </a:spcAft>
                        <a:buNone/>
                      </a:pPr>
                      <a:r>
                        <a:rPr lang="en-US" sz="1400" dirty="0">
                          <a:effectLst/>
                          <a:latin typeface="Times New Roman" panose="02020603050405020304" pitchFamily="18" charset="0"/>
                          <a:cs typeface="Times New Roman" panose="02020603050405020304" pitchFamily="18" charset="0"/>
                        </a:rPr>
                        <a:t>Comprehensive overview</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3433" marR="43433" marT="0" marB="0"/>
                </a:tc>
                <a:tc>
                  <a:txBody>
                    <a:bodyPr/>
                    <a:lstStyle/>
                    <a:p>
                      <a:pPr>
                        <a:lnSpc>
                          <a:spcPct val="115000"/>
                        </a:lnSpc>
                        <a:spcAft>
                          <a:spcPts val="1000"/>
                        </a:spcAft>
                        <a:buNone/>
                      </a:pPr>
                      <a:r>
                        <a:rPr lang="en-US" sz="1400" dirty="0">
                          <a:effectLst/>
                          <a:latin typeface="Times New Roman" panose="02020603050405020304" pitchFamily="18" charset="0"/>
                          <a:cs typeface="Times New Roman" panose="02020603050405020304" pitchFamily="18" charset="0"/>
                        </a:rPr>
                        <a:t>No experimental contribution</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3433" marR="43433" marT="0" marB="0"/>
                </a:tc>
                <a:extLst>
                  <a:ext uri="{0D108BD9-81ED-4DB2-BD59-A6C34878D82A}">
                    <a16:rowId xmlns:a16="http://schemas.microsoft.com/office/drawing/2014/main" val="3094080410"/>
                  </a:ext>
                </a:extLst>
              </a:tr>
              <a:tr h="501437">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18</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3433" marR="43433" marT="0" marB="0"/>
                </a:tc>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2023</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3433" marR="43433" marT="0" marB="0"/>
                </a:tc>
                <a:tc>
                  <a:txBody>
                    <a:bodyPr/>
                    <a:lstStyle/>
                    <a:p>
                      <a:pPr>
                        <a:lnSpc>
                          <a:spcPct val="115000"/>
                        </a:lnSpc>
                        <a:spcAft>
                          <a:spcPts val="1000"/>
                        </a:spcAft>
                        <a:buNone/>
                      </a:pPr>
                      <a:r>
                        <a:rPr lang="en-US" sz="1400" dirty="0">
                          <a:effectLst/>
                          <a:latin typeface="Times New Roman" panose="02020603050405020304" pitchFamily="18" charset="0"/>
                          <a:cs typeface="Times New Roman" panose="02020603050405020304" pitchFamily="18" charset="0"/>
                        </a:rPr>
                        <a:t>Improved YOLOv4-tiny (</a:t>
                      </a:r>
                      <a:r>
                        <a:rPr lang="en-US" sz="1400" dirty="0" err="1">
                          <a:effectLst/>
                          <a:latin typeface="Times New Roman" panose="02020603050405020304" pitchFamily="18" charset="0"/>
                          <a:cs typeface="Times New Roman" panose="02020603050405020304" pitchFamily="18" charset="0"/>
                        </a:rPr>
                        <a:t>OctConv</a:t>
                      </a:r>
                      <a:r>
                        <a:rPr lang="en-US" sz="1400" dirty="0">
                          <a:effectLst/>
                          <a:latin typeface="Times New Roman" panose="02020603050405020304" pitchFamily="18" charset="0"/>
                          <a:cs typeface="Times New Roman" panose="02020603050405020304" pitchFamily="18" charset="0"/>
                        </a:rPr>
                        <a:t>)</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3433" marR="43433" marT="0" marB="0"/>
                </a:tc>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Lightweight and fast</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3433" marR="43433" marT="0" marB="0"/>
                </a:tc>
                <a:tc>
                  <a:txBody>
                    <a:bodyPr/>
                    <a:lstStyle/>
                    <a:p>
                      <a:pPr>
                        <a:lnSpc>
                          <a:spcPct val="115000"/>
                        </a:lnSpc>
                        <a:spcAft>
                          <a:spcPts val="1000"/>
                        </a:spcAft>
                        <a:buNone/>
                      </a:pPr>
                      <a:r>
                        <a:rPr lang="en-US" sz="1400" dirty="0">
                          <a:effectLst/>
                          <a:latin typeface="Times New Roman" panose="02020603050405020304" pitchFamily="18" charset="0"/>
                          <a:cs typeface="Times New Roman" panose="02020603050405020304" pitchFamily="18" charset="0"/>
                        </a:rPr>
                        <a:t>Lower accuracy</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3433" marR="43433" marT="0" marB="0"/>
                </a:tc>
                <a:extLst>
                  <a:ext uri="{0D108BD9-81ED-4DB2-BD59-A6C34878D82A}">
                    <a16:rowId xmlns:a16="http://schemas.microsoft.com/office/drawing/2014/main" val="2904644385"/>
                  </a:ext>
                </a:extLst>
              </a:tr>
              <a:tr h="479594">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19</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3433" marR="43433" marT="0" marB="0"/>
                </a:tc>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2022</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3433" marR="43433" marT="0" marB="0"/>
                </a:tc>
                <a:tc>
                  <a:txBody>
                    <a:bodyPr/>
                    <a:lstStyle/>
                    <a:p>
                      <a:pPr>
                        <a:lnSpc>
                          <a:spcPct val="115000"/>
                        </a:lnSpc>
                        <a:spcAft>
                          <a:spcPts val="1000"/>
                        </a:spcAft>
                        <a:buNone/>
                      </a:pPr>
                      <a:r>
                        <a:rPr lang="en-US" sz="1400" dirty="0">
                          <a:effectLst/>
                          <a:latin typeface="Times New Roman" panose="02020603050405020304" pitchFamily="18" charset="0"/>
                          <a:cs typeface="Times New Roman" panose="02020603050405020304" pitchFamily="18" charset="0"/>
                        </a:rPr>
                        <a:t>Faster R-CNN</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3433" marR="43433" marT="0" marB="0"/>
                </a:tc>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Robust detection accuracy</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3433" marR="43433" marT="0" marB="0"/>
                </a:tc>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Slow inference</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3433" marR="43433" marT="0" marB="0"/>
                </a:tc>
                <a:extLst>
                  <a:ext uri="{0D108BD9-81ED-4DB2-BD59-A6C34878D82A}">
                    <a16:rowId xmlns:a16="http://schemas.microsoft.com/office/drawing/2014/main" val="2198749272"/>
                  </a:ext>
                </a:extLst>
              </a:tr>
              <a:tr h="479594">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20</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3433" marR="43433" marT="0" marB="0"/>
                </a:tc>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2024</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3433" marR="43433" marT="0" marB="0"/>
                </a:tc>
                <a:tc>
                  <a:txBody>
                    <a:bodyPr/>
                    <a:lstStyle/>
                    <a:p>
                      <a:pPr>
                        <a:lnSpc>
                          <a:spcPct val="115000"/>
                        </a:lnSpc>
                        <a:spcAft>
                          <a:spcPts val="1000"/>
                        </a:spcAft>
                        <a:buNone/>
                      </a:pPr>
                      <a:r>
                        <a:rPr lang="en-US" sz="1400" dirty="0">
                          <a:effectLst/>
                          <a:latin typeface="Times New Roman" panose="02020603050405020304" pitchFamily="18" charset="0"/>
                          <a:cs typeface="Times New Roman" panose="02020603050405020304" pitchFamily="18" charset="0"/>
                        </a:rPr>
                        <a:t>Improved Faster R-CNN</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3433" marR="43433" marT="0" marB="0"/>
                </a:tc>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Better small sign detection</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3433" marR="43433" marT="0" marB="0"/>
                </a:tc>
                <a:tc>
                  <a:txBody>
                    <a:bodyPr/>
                    <a:lstStyle/>
                    <a:p>
                      <a:pPr>
                        <a:lnSpc>
                          <a:spcPct val="115000"/>
                        </a:lnSpc>
                        <a:spcAft>
                          <a:spcPts val="1000"/>
                        </a:spcAft>
                        <a:buNone/>
                      </a:pPr>
                      <a:r>
                        <a:rPr lang="en-US" sz="1400" dirty="0">
                          <a:effectLst/>
                          <a:latin typeface="Times New Roman" panose="02020603050405020304" pitchFamily="18" charset="0"/>
                          <a:cs typeface="Times New Roman" panose="02020603050405020304" pitchFamily="18" charset="0"/>
                        </a:rPr>
                        <a:t>High computational cost</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43433" marR="43433" marT="0" marB="0"/>
                </a:tc>
                <a:extLst>
                  <a:ext uri="{0D108BD9-81ED-4DB2-BD59-A6C34878D82A}">
                    <a16:rowId xmlns:a16="http://schemas.microsoft.com/office/drawing/2014/main" val="3304049157"/>
                  </a:ext>
                </a:extLst>
              </a:tr>
            </a:tbl>
          </a:graphicData>
        </a:graphic>
      </p:graphicFrame>
    </p:spTree>
    <p:extLst>
      <p:ext uri="{BB962C8B-B14F-4D97-AF65-F5344CB8AC3E}">
        <p14:creationId xmlns:p14="http://schemas.microsoft.com/office/powerpoint/2010/main" val="27492426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953151FD-F8BC-B39A-6E54-D5A18AE7A0D1}"/>
              </a:ext>
            </a:extLst>
          </p:cNvPr>
          <p:cNvGraphicFramePr>
            <a:graphicFrameLocks noGrp="1"/>
          </p:cNvGraphicFramePr>
          <p:nvPr>
            <p:extLst>
              <p:ext uri="{D42A27DB-BD31-4B8C-83A1-F6EECF244321}">
                <p14:modId xmlns:p14="http://schemas.microsoft.com/office/powerpoint/2010/main" val="3426978638"/>
              </p:ext>
            </p:extLst>
          </p:nvPr>
        </p:nvGraphicFramePr>
        <p:xfrm>
          <a:off x="648182" y="532435"/>
          <a:ext cx="11134845" cy="4095606"/>
        </p:xfrm>
        <a:graphic>
          <a:graphicData uri="http://schemas.openxmlformats.org/drawingml/2006/table">
            <a:tbl>
              <a:tblPr firstRow="1" firstCol="1" bandRow="1">
                <a:tableStyleId>{5C22544A-7EE6-4342-B048-85BDC9FD1C3A}</a:tableStyleId>
              </a:tblPr>
              <a:tblGrid>
                <a:gridCol w="1101960">
                  <a:extLst>
                    <a:ext uri="{9D8B030D-6E8A-4147-A177-3AD203B41FA5}">
                      <a16:colId xmlns:a16="http://schemas.microsoft.com/office/drawing/2014/main" val="4162869602"/>
                    </a:ext>
                  </a:extLst>
                </a:gridCol>
                <a:gridCol w="1071716">
                  <a:extLst>
                    <a:ext uri="{9D8B030D-6E8A-4147-A177-3AD203B41FA5}">
                      <a16:colId xmlns:a16="http://schemas.microsoft.com/office/drawing/2014/main" val="879663239"/>
                    </a:ext>
                  </a:extLst>
                </a:gridCol>
                <a:gridCol w="2585884">
                  <a:extLst>
                    <a:ext uri="{9D8B030D-6E8A-4147-A177-3AD203B41FA5}">
                      <a16:colId xmlns:a16="http://schemas.microsoft.com/office/drawing/2014/main" val="2031414224"/>
                    </a:ext>
                  </a:extLst>
                </a:gridCol>
                <a:gridCol w="2703871">
                  <a:extLst>
                    <a:ext uri="{9D8B030D-6E8A-4147-A177-3AD203B41FA5}">
                      <a16:colId xmlns:a16="http://schemas.microsoft.com/office/drawing/2014/main" val="2361217438"/>
                    </a:ext>
                  </a:extLst>
                </a:gridCol>
                <a:gridCol w="3671414">
                  <a:extLst>
                    <a:ext uri="{9D8B030D-6E8A-4147-A177-3AD203B41FA5}">
                      <a16:colId xmlns:a16="http://schemas.microsoft.com/office/drawing/2014/main" val="4136488198"/>
                    </a:ext>
                  </a:extLst>
                </a:gridCol>
              </a:tblGrid>
              <a:tr h="1175765">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22</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400" dirty="0">
                          <a:effectLst/>
                          <a:latin typeface="Times New Roman" panose="02020603050405020304" pitchFamily="18" charset="0"/>
                          <a:cs typeface="Times New Roman" panose="02020603050405020304" pitchFamily="18" charset="0"/>
                        </a:rPr>
                        <a:t>2023</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Improved YOLOv5 multi-scale</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Enhanced detection accuracy</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More parameters</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194500552"/>
                  </a:ext>
                </a:extLst>
              </a:tr>
              <a:tr h="1175765">
                <a:tc>
                  <a:txBody>
                    <a:bodyPr/>
                    <a:lstStyle/>
                    <a:p>
                      <a:pPr>
                        <a:lnSpc>
                          <a:spcPct val="115000"/>
                        </a:lnSpc>
                        <a:spcAft>
                          <a:spcPts val="1000"/>
                        </a:spcAft>
                        <a:buNone/>
                      </a:pPr>
                      <a:r>
                        <a:rPr lang="en-US" sz="1400" dirty="0">
                          <a:effectLst/>
                          <a:latin typeface="Times New Roman" panose="02020603050405020304" pitchFamily="18" charset="0"/>
                          <a:cs typeface="Times New Roman" panose="02020603050405020304" pitchFamily="18" charset="0"/>
                        </a:rPr>
                        <a:t>23</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2023</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400" dirty="0">
                          <a:effectLst/>
                          <a:latin typeface="Times New Roman" panose="02020603050405020304" pitchFamily="18" charset="0"/>
                          <a:cs typeface="Times New Roman" panose="02020603050405020304" pitchFamily="18" charset="0"/>
                        </a:rPr>
                        <a:t>Improved YOLOv8 on CCTSDB</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Reduced missed detections</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400" dirty="0">
                          <a:effectLst/>
                          <a:latin typeface="Times New Roman" panose="02020603050405020304" pitchFamily="18" charset="0"/>
                          <a:cs typeface="Times New Roman" panose="02020603050405020304" pitchFamily="18" charset="0"/>
                        </a:rPr>
                        <a:t>Generalization unclear</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425911384"/>
                  </a:ext>
                </a:extLst>
              </a:tr>
              <a:tr h="1175765">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24</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400" dirty="0">
                          <a:effectLst/>
                          <a:latin typeface="Times New Roman" panose="02020603050405020304" pitchFamily="18" charset="0"/>
                          <a:cs typeface="Times New Roman" panose="02020603050405020304" pitchFamily="18" charset="0"/>
                        </a:rPr>
                        <a:t>2025</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Efficient ViT Hybrid</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Global and local feature learning</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Heavy model</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503501681"/>
                  </a:ext>
                </a:extLst>
              </a:tr>
              <a:tr h="568311">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25</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2024</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YOLO-CCA (ArXiv)</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Improved fusion efficiency</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400" dirty="0">
                          <a:effectLst/>
                          <a:latin typeface="Times New Roman" panose="02020603050405020304" pitchFamily="18" charset="0"/>
                          <a:cs typeface="Times New Roman" panose="02020603050405020304" pitchFamily="18" charset="0"/>
                        </a:rPr>
                        <a:t>Architecture dependency</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937936929"/>
                  </a:ext>
                </a:extLst>
              </a:tr>
            </a:tbl>
          </a:graphicData>
        </a:graphic>
      </p:graphicFrame>
    </p:spTree>
    <p:extLst>
      <p:ext uri="{BB962C8B-B14F-4D97-AF65-F5344CB8AC3E}">
        <p14:creationId xmlns:p14="http://schemas.microsoft.com/office/powerpoint/2010/main" val="34334856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E4D6E-88C0-372B-51DA-BF158B2A6430}"/>
              </a:ext>
            </a:extLst>
          </p:cNvPr>
          <p:cNvSpPr>
            <a:spLocks noGrp="1"/>
          </p:cNvSpPr>
          <p:nvPr>
            <p:ph type="title"/>
          </p:nvPr>
        </p:nvSpPr>
        <p:spPr>
          <a:xfrm>
            <a:off x="404351" y="0"/>
            <a:ext cx="9888795" cy="1325563"/>
          </a:xfrm>
        </p:spPr>
        <p:txBody>
          <a:bodyPr/>
          <a:lstStyle/>
          <a:p>
            <a:r>
              <a:rPr lang="en-IN" b="1" dirty="0">
                <a:latin typeface="Times New Roman" panose="02020603050405020304" pitchFamily="18" charset="0"/>
                <a:cs typeface="Times New Roman" panose="02020603050405020304" pitchFamily="18" charset="0"/>
              </a:rPr>
              <a:t>METHODOLOGY</a:t>
            </a:r>
          </a:p>
        </p:txBody>
      </p:sp>
      <p:sp>
        <p:nvSpPr>
          <p:cNvPr id="9" name="TextBox 8">
            <a:extLst>
              <a:ext uri="{FF2B5EF4-FFF2-40B4-BE49-F238E27FC236}">
                <a16:creationId xmlns:a16="http://schemas.microsoft.com/office/drawing/2014/main" id="{A6443082-820E-56BE-A8EA-53E731541247}"/>
              </a:ext>
            </a:extLst>
          </p:cNvPr>
          <p:cNvSpPr txBox="1"/>
          <p:nvPr/>
        </p:nvSpPr>
        <p:spPr>
          <a:xfrm>
            <a:off x="5348749" y="6492875"/>
            <a:ext cx="2104103" cy="369332"/>
          </a:xfrm>
          <a:prstGeom prst="rect">
            <a:avLst/>
          </a:prstGeom>
          <a:noFill/>
        </p:spPr>
        <p:txBody>
          <a:bodyPr wrap="square" rtlCol="0">
            <a:spAutoFit/>
          </a:bodyPr>
          <a:lstStyle/>
          <a:p>
            <a:r>
              <a:rPr lang="en-IN" i="1" dirty="0">
                <a:latin typeface="High Tower Text" panose="02040502050506030303" pitchFamily="18" charset="0"/>
              </a:rPr>
              <a:t>Fig. Workflow</a:t>
            </a:r>
          </a:p>
        </p:txBody>
      </p:sp>
      <p:pic>
        <p:nvPicPr>
          <p:cNvPr id="4" name="Picture 3">
            <a:extLst>
              <a:ext uri="{FF2B5EF4-FFF2-40B4-BE49-F238E27FC236}">
                <a16:creationId xmlns:a16="http://schemas.microsoft.com/office/drawing/2014/main" id="{5F3ABEC1-C5B2-70B1-55F5-72E2B1301EBD}"/>
              </a:ext>
            </a:extLst>
          </p:cNvPr>
          <p:cNvPicPr>
            <a:picLocks noChangeAspect="1"/>
          </p:cNvPicPr>
          <p:nvPr/>
        </p:nvPicPr>
        <p:blipFill>
          <a:blip r:embed="rId2"/>
          <a:stretch>
            <a:fillRect/>
          </a:stretch>
        </p:blipFill>
        <p:spPr>
          <a:xfrm>
            <a:off x="4632839" y="885775"/>
            <a:ext cx="2926319" cy="5713412"/>
          </a:xfrm>
          <a:prstGeom prst="rect">
            <a:avLst/>
          </a:prstGeom>
        </p:spPr>
      </p:pic>
    </p:spTree>
    <p:extLst>
      <p:ext uri="{BB962C8B-B14F-4D97-AF65-F5344CB8AC3E}">
        <p14:creationId xmlns:p14="http://schemas.microsoft.com/office/powerpoint/2010/main" val="27829043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E1E54-20A2-6248-3931-D3801C3D1D63}"/>
              </a:ext>
            </a:extLst>
          </p:cNvPr>
          <p:cNvSpPr>
            <a:spLocks noGrp="1"/>
          </p:cNvSpPr>
          <p:nvPr>
            <p:ph type="title"/>
          </p:nvPr>
        </p:nvSpPr>
        <p:spPr>
          <a:xfrm>
            <a:off x="838200" y="109946"/>
            <a:ext cx="10515600" cy="1325563"/>
          </a:xfrm>
        </p:spPr>
        <p:txBody>
          <a:bodyPr>
            <a:normAutofit/>
          </a:bodyPr>
          <a:lstStyle/>
          <a:p>
            <a:r>
              <a:rPr lang="en-IN" sz="4000" b="1" dirty="0">
                <a:latin typeface="Times New Roman" panose="02020603050405020304" pitchFamily="18" charset="0"/>
                <a:cs typeface="Times New Roman" panose="02020603050405020304" pitchFamily="18" charset="0"/>
              </a:rPr>
              <a:t>PERFORMANCE ANALYSIS:</a:t>
            </a:r>
          </a:p>
        </p:txBody>
      </p:sp>
      <p:pic>
        <p:nvPicPr>
          <p:cNvPr id="5" name="Content Placeholder 4">
            <a:extLst>
              <a:ext uri="{FF2B5EF4-FFF2-40B4-BE49-F238E27FC236}">
                <a16:creationId xmlns:a16="http://schemas.microsoft.com/office/drawing/2014/main" id="{D5C73EBD-81E0-9966-F65C-D32B0709AC24}"/>
              </a:ext>
            </a:extLst>
          </p:cNvPr>
          <p:cNvPicPr>
            <a:picLocks noGrp="1" noChangeAspect="1"/>
          </p:cNvPicPr>
          <p:nvPr>
            <p:ph idx="1"/>
          </p:nvPr>
        </p:nvPicPr>
        <p:blipFill>
          <a:blip r:embed="rId2"/>
          <a:stretch>
            <a:fillRect/>
          </a:stretch>
        </p:blipFill>
        <p:spPr>
          <a:xfrm>
            <a:off x="3421257" y="1745389"/>
            <a:ext cx="5349485" cy="2262731"/>
          </a:xfrm>
          <a:prstGeom prst="rect">
            <a:avLst/>
          </a:prstGeom>
        </p:spPr>
      </p:pic>
      <p:sp>
        <p:nvSpPr>
          <p:cNvPr id="7" name="TextBox 6">
            <a:extLst>
              <a:ext uri="{FF2B5EF4-FFF2-40B4-BE49-F238E27FC236}">
                <a16:creationId xmlns:a16="http://schemas.microsoft.com/office/drawing/2014/main" id="{E576B6B9-9338-F6FD-B5E3-6C5B89575E08}"/>
              </a:ext>
            </a:extLst>
          </p:cNvPr>
          <p:cNvSpPr txBox="1"/>
          <p:nvPr/>
        </p:nvSpPr>
        <p:spPr>
          <a:xfrm>
            <a:off x="3047999" y="4234934"/>
            <a:ext cx="6096000" cy="369332"/>
          </a:xfrm>
          <a:prstGeom prst="rect">
            <a:avLst/>
          </a:prstGeom>
          <a:noFill/>
        </p:spPr>
        <p:txBody>
          <a:bodyPr wrap="square">
            <a:spAutoFit/>
          </a:bodyPr>
          <a:lstStyle/>
          <a:p>
            <a:r>
              <a:rPr lang="en-US" i="1" dirty="0">
                <a:latin typeface="High Tower Text" panose="02040502050506030303" pitchFamily="18" charset="0"/>
              </a:rPr>
              <a:t>Table 1. Performance comparison of individual and proposed fusion</a:t>
            </a:r>
            <a:endParaRPr lang="en-IN" i="1" dirty="0">
              <a:latin typeface="High Tower Text" panose="02040502050506030303" pitchFamily="18" charset="0"/>
            </a:endParaRPr>
          </a:p>
        </p:txBody>
      </p:sp>
    </p:spTree>
    <p:extLst>
      <p:ext uri="{BB962C8B-B14F-4D97-AF65-F5344CB8AC3E}">
        <p14:creationId xmlns:p14="http://schemas.microsoft.com/office/powerpoint/2010/main" val="26517817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106946-B3EF-37C1-BF0E-4F190A831F43}"/>
              </a:ext>
            </a:extLst>
          </p:cNvPr>
          <p:cNvSpPr>
            <a:spLocks noGrp="1"/>
          </p:cNvSpPr>
          <p:nvPr>
            <p:ph idx="1"/>
          </p:nvPr>
        </p:nvSpPr>
        <p:spPr>
          <a:xfrm>
            <a:off x="838200" y="1253331"/>
            <a:ext cx="10515600" cy="4351338"/>
          </a:xfrm>
        </p:spPr>
        <p:txBody>
          <a:bodyPr>
            <a:normAutofit/>
          </a:bodyPr>
          <a:lstStyle/>
          <a:p>
            <a:pPr marL="0" indent="0" algn="just">
              <a:lnSpc>
                <a:spcPct val="150000"/>
              </a:lnSpc>
              <a:buNone/>
            </a:pPr>
            <a:r>
              <a:rPr lang="en-US" sz="1600" dirty="0">
                <a:latin typeface="Times New Roman" panose="02020603050405020304" pitchFamily="18" charset="0"/>
                <a:cs typeface="Times New Roman" panose="02020603050405020304" pitchFamily="18" charset="0"/>
              </a:rPr>
              <a:t>TableI summarizes each model’s accuracy results. ResNet18 achieved the highest accuracy of all models with 97.78%, closely followed by EfficientNet-B0 which achieved an ac curacy of 97.22%. Both models perform very well at success fully extracting relevant features related to traffic signs and identifying them correctly due to their designs. </a:t>
            </a:r>
            <a:r>
              <a:rPr lang="en-US" sz="1600" dirty="0" err="1">
                <a:latin typeface="Times New Roman" panose="02020603050405020304" pitchFamily="18" charset="0"/>
                <a:cs typeface="Times New Roman" panose="02020603050405020304" pitchFamily="18" charset="0"/>
              </a:rPr>
              <a:t>EfficientNet</a:t>
            </a:r>
            <a:r>
              <a:rPr lang="en-US" sz="1600" dirty="0">
                <a:latin typeface="Times New Roman" panose="02020603050405020304" pitchFamily="18" charset="0"/>
                <a:cs typeface="Times New Roman" panose="02020603050405020304" pitchFamily="18" charset="0"/>
              </a:rPr>
              <a:t> is uniformly scaled which allows it to achieve a balance between efficient processing and design, whereas ResNet18 utilizes residual connections within its architecture for continual stable learning. DenseNet121 achieved an accuracy of 95.56% which indicates it is able to efficiently reuse features; however, ResNet50’s lower accuracy at only 95.00% may indicate that it has been affected by overfitting. </a:t>
            </a:r>
          </a:p>
          <a:p>
            <a:pPr marL="0" indent="0" algn="just">
              <a:lnSpc>
                <a:spcPct val="150000"/>
              </a:lnSpc>
              <a:buNone/>
            </a:pPr>
            <a:r>
              <a:rPr lang="en-US" sz="1600" dirty="0">
                <a:latin typeface="Times New Roman" panose="02020603050405020304" pitchFamily="18" charset="0"/>
                <a:cs typeface="Times New Roman" panose="02020603050405020304" pitchFamily="18" charset="0"/>
              </a:rPr>
              <a:t>In general simple and properly optimized architectures outperform deeper more complicated architectures, thus supporting the notion that efficiency and simplicity should be emphasized instead of complexity in this type of work.</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287461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6C8C5-C9A6-884B-3DB1-1D5C64EE7E54}"/>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EA1B7F5-B437-D663-5751-F8DAE6DD3178}"/>
              </a:ext>
            </a:extLst>
          </p:cNvPr>
          <p:cNvSpPr txBox="1"/>
          <p:nvPr/>
        </p:nvSpPr>
        <p:spPr>
          <a:xfrm>
            <a:off x="3981196" y="4653135"/>
            <a:ext cx="6096000" cy="369332"/>
          </a:xfrm>
          <a:prstGeom prst="rect">
            <a:avLst/>
          </a:prstGeom>
          <a:noFill/>
        </p:spPr>
        <p:txBody>
          <a:bodyPr wrap="square">
            <a:spAutoFit/>
          </a:bodyPr>
          <a:lstStyle/>
          <a:p>
            <a:r>
              <a:rPr lang="en-US" i="1" dirty="0">
                <a:latin typeface="High Tower Text" panose="02040502050506030303" pitchFamily="18" charset="0"/>
              </a:rPr>
              <a:t>Table 2. Performance comparison of fusion models</a:t>
            </a:r>
            <a:endParaRPr lang="en-IN" i="1" dirty="0">
              <a:latin typeface="High Tower Text" panose="02040502050506030303" pitchFamily="18" charset="0"/>
            </a:endParaRPr>
          </a:p>
        </p:txBody>
      </p:sp>
      <p:sp>
        <p:nvSpPr>
          <p:cNvPr id="8" name="TextBox 7">
            <a:extLst>
              <a:ext uri="{FF2B5EF4-FFF2-40B4-BE49-F238E27FC236}">
                <a16:creationId xmlns:a16="http://schemas.microsoft.com/office/drawing/2014/main" id="{7002970A-9A4A-3B2E-AC2B-D25E4D8B149E}"/>
              </a:ext>
            </a:extLst>
          </p:cNvPr>
          <p:cNvSpPr txBox="1"/>
          <p:nvPr/>
        </p:nvSpPr>
        <p:spPr>
          <a:xfrm>
            <a:off x="518160" y="630817"/>
            <a:ext cx="8483600" cy="646331"/>
          </a:xfrm>
          <a:prstGeom prst="rect">
            <a:avLst/>
          </a:prstGeom>
          <a:noFill/>
        </p:spPr>
        <p:txBody>
          <a:bodyPr wrap="square">
            <a:spAutoFit/>
          </a:bodyPr>
          <a:lstStyle/>
          <a:p>
            <a:r>
              <a:rPr lang="en-IN" sz="3600" b="1" dirty="0">
                <a:latin typeface="Times New Roman" panose="02020603050405020304" pitchFamily="18" charset="0"/>
                <a:cs typeface="Times New Roman" panose="02020603050405020304" pitchFamily="18" charset="0"/>
              </a:rPr>
              <a:t>FUSION MODEL PERFORMANCE</a:t>
            </a:r>
          </a:p>
        </p:txBody>
      </p:sp>
      <p:pic>
        <p:nvPicPr>
          <p:cNvPr id="10" name="Picture 9">
            <a:extLst>
              <a:ext uri="{FF2B5EF4-FFF2-40B4-BE49-F238E27FC236}">
                <a16:creationId xmlns:a16="http://schemas.microsoft.com/office/drawing/2014/main" id="{9DB6289B-7F41-E45C-CB59-29D5B0966036}"/>
              </a:ext>
            </a:extLst>
          </p:cNvPr>
          <p:cNvPicPr>
            <a:picLocks noChangeAspect="1"/>
          </p:cNvPicPr>
          <p:nvPr/>
        </p:nvPicPr>
        <p:blipFill>
          <a:blip r:embed="rId2"/>
          <a:stretch>
            <a:fillRect/>
          </a:stretch>
        </p:blipFill>
        <p:spPr>
          <a:xfrm>
            <a:off x="3367277" y="2113695"/>
            <a:ext cx="5457443" cy="2387185"/>
          </a:xfrm>
          <a:prstGeom prst="rect">
            <a:avLst/>
          </a:prstGeom>
        </p:spPr>
      </p:pic>
    </p:spTree>
    <p:extLst>
      <p:ext uri="{BB962C8B-B14F-4D97-AF65-F5344CB8AC3E}">
        <p14:creationId xmlns:p14="http://schemas.microsoft.com/office/powerpoint/2010/main" val="23828255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CFA6DC-E864-A9A6-C24D-7944415F009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B4E80D-D5C7-59BC-85DA-CD5EC14FAD5E}"/>
              </a:ext>
            </a:extLst>
          </p:cNvPr>
          <p:cNvSpPr>
            <a:spLocks noGrp="1"/>
          </p:cNvSpPr>
          <p:nvPr>
            <p:ph idx="1"/>
          </p:nvPr>
        </p:nvSpPr>
        <p:spPr>
          <a:xfrm>
            <a:off x="838200" y="1253331"/>
            <a:ext cx="10515600" cy="4351338"/>
          </a:xfrm>
        </p:spPr>
        <p:txBody>
          <a:bodyPr>
            <a:normAutofit/>
          </a:bodyPr>
          <a:lstStyle/>
          <a:p>
            <a:pPr marL="0" indent="0" algn="just">
              <a:lnSpc>
                <a:spcPct val="150000"/>
              </a:lnSpc>
              <a:buNone/>
            </a:pPr>
            <a:r>
              <a:rPr lang="en-US" sz="1600" dirty="0">
                <a:latin typeface="Times New Roman" panose="02020603050405020304" pitchFamily="18" charset="0"/>
                <a:cs typeface="Times New Roman" panose="02020603050405020304" pitchFamily="18" charset="0"/>
              </a:rPr>
              <a:t>Table II shows the performance of the fusion model and compares it to the standalone model. The average accuracy of the entire fusion system was 97.22%, whereas the accuracy of the individual models used in the fusion system was higher at 98.33%. This indicates that there was an improvement in accuracy using the combination of individual baseline models. </a:t>
            </a:r>
            <a:r>
              <a:rPr lang="en-US" sz="1600" dirty="0" err="1">
                <a:latin typeface="Times New Roman" panose="02020603050405020304" pitchFamily="18" charset="0"/>
                <a:cs typeface="Times New Roman" panose="02020603050405020304" pitchFamily="18" charset="0"/>
              </a:rPr>
              <a:t>AFRNet</a:t>
            </a:r>
            <a:r>
              <a:rPr lang="en-US" sz="1600" dirty="0">
                <a:latin typeface="Times New Roman" panose="02020603050405020304" pitchFamily="18" charset="0"/>
                <a:cs typeface="Times New Roman" panose="02020603050405020304" pitchFamily="18" charset="0"/>
              </a:rPr>
              <a:t> Model performed consistently at over 98.33% across all different combinations of baseline models used to develop the fusion-based platforms, as well as achieving a greater level of precision, recall and F1 scores than the average performance of all of the standalone models. This demonstrates that using adaptive weights of the outputs from each of the individual baseline model contributes significantly to improvement in classification performance under adverse conditions.</a:t>
            </a:r>
            <a:br>
              <a:rPr lang="en-US" sz="1600" dirty="0">
                <a:latin typeface="Times New Roman" panose="02020603050405020304" pitchFamily="18" charset="0"/>
                <a:cs typeface="Times New Roman" panose="02020603050405020304" pitchFamily="18" charset="0"/>
              </a:rPr>
            </a:b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349122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9CCA4-519F-25D8-551C-BE383B096DC0}"/>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CBD4D104-F601-2ED1-1A4E-4BD8D367F378}"/>
              </a:ext>
            </a:extLst>
          </p:cNvPr>
          <p:cNvSpPr>
            <a:spLocks noGrp="1"/>
          </p:cNvSpPr>
          <p:nvPr>
            <p:ph idx="1"/>
          </p:nvPr>
        </p:nvSpPr>
        <p:spPr>
          <a:xfrm>
            <a:off x="838200" y="1818968"/>
            <a:ext cx="10515600" cy="4898769"/>
          </a:xfrm>
        </p:spPr>
        <p:txBody>
          <a:bodyPr>
            <a:normAutofit/>
          </a:bodyPr>
          <a:lstStyle/>
          <a:p>
            <a:pPr marL="0" indent="0" algn="just">
              <a:lnSpc>
                <a:spcPct val="150000"/>
              </a:lnSpc>
              <a:buNone/>
            </a:pPr>
            <a:r>
              <a:rPr lang="en-US" sz="1600" dirty="0">
                <a:latin typeface="Times New Roman" panose="02020603050405020304" pitchFamily="18" charset="0"/>
                <a:cs typeface="Times New Roman" panose="02020603050405020304" pitchFamily="18" charset="0"/>
              </a:rPr>
              <a:t>This paper proposes a framework for TSR based on the LISA Dataset that includes preprocessing, several CNNs, and various types of fusion to create a high degree of accuracy and robustness. For example, using ROI extraction via bounding boxes removes background noise and improves upon the classification accuracy of CNNs. Additionally, augmentation and balancing techniques are utilized to create an equal distribution of observations across classes, leading to improved generalization through the reduction of class imbalances. The ResNet18 and EfficientNet-B0 performed best in classification accuracy when comparing individual models, while fusion further enhanced the results by providing moderate increases in accuracy through average fusion and the highest overall accuracy of 98.33% using attention-based fusion. Overall, the proposed framework combines preprocessing, Deep Learning architectures, and fusion techniques in an effective manner that produces reliable results, making the framework suitable for use in many different applications, including autonomous driving and ADAS.</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083550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DC3F44-80A9-A49E-AB42-6D383AC6E7CD}"/>
              </a:ext>
            </a:extLst>
          </p:cNvPr>
          <p:cNvSpPr>
            <a:spLocks noGrp="1"/>
          </p:cNvSpPr>
          <p:nvPr>
            <p:ph type="title"/>
          </p:nvPr>
        </p:nvSpPr>
        <p:spPr>
          <a:xfrm>
            <a:off x="838200" y="2494867"/>
            <a:ext cx="10515600" cy="1325563"/>
          </a:xfrm>
        </p:spPr>
        <p:txBody>
          <a:bodyPr/>
          <a:lstStyle/>
          <a:p>
            <a:pPr algn="ctr"/>
            <a:r>
              <a:rPr lang="en-US" b="1" dirty="0">
                <a:latin typeface="Times New Roman" panose="02020603050405020304" pitchFamily="18" charset="0"/>
                <a:cs typeface="Times New Roman" panose="02020603050405020304" pitchFamily="18" charset="0"/>
              </a:rPr>
              <a:t>THANK YOU </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105170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1296</TotalTime>
  <Words>1521</Words>
  <Application>Microsoft Office PowerPoint</Application>
  <PresentationFormat>Widescreen</PresentationFormat>
  <Paragraphs>177</Paragraphs>
  <Slides>17</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Aptos</vt:lpstr>
      <vt:lpstr>Arial</vt:lpstr>
      <vt:lpstr>Calibri</vt:lpstr>
      <vt:lpstr>Calibri Light</vt:lpstr>
      <vt:lpstr>High Tower Text</vt:lpstr>
      <vt:lpstr>Times New Roman</vt:lpstr>
      <vt:lpstr>Office Theme</vt:lpstr>
      <vt:lpstr>A Hybrid Deep Learning Framework for Traffic Sign Recognition using Model Fusion</vt:lpstr>
      <vt:lpstr>ABSTRACT</vt:lpstr>
      <vt:lpstr>INTRODUCTION</vt:lpstr>
      <vt:lpstr>PowerPoint Presentation</vt:lpstr>
      <vt:lpstr>DATASET </vt:lpstr>
      <vt:lpstr>PowerPoint Presentation</vt:lpstr>
      <vt:lpstr>Tools and Technologies Used:</vt:lpstr>
      <vt:lpstr>LITERATURE REVIEW</vt:lpstr>
      <vt:lpstr>PowerPoint Presentation</vt:lpstr>
      <vt:lpstr>PowerPoint Presentation</vt:lpstr>
      <vt:lpstr>METHODOLOGY</vt:lpstr>
      <vt:lpstr>PERFORMANCE ANALYSIS:</vt:lpstr>
      <vt:lpstr>PowerPoint Presentation</vt:lpstr>
      <vt:lpstr>PowerPoint Presentation</vt:lpstr>
      <vt:lpstr>PowerPoint Presentation</vt:lpstr>
      <vt:lpstr>CONCLUSION</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Abhinaya Chowdary</dc:creator>
  <cp:lastModifiedBy>Bhavya Kanneganti</cp:lastModifiedBy>
  <cp:revision>14</cp:revision>
  <dcterms:created xsi:type="dcterms:W3CDTF">2026-01-28T09:49:05Z</dcterms:created>
  <dcterms:modified xsi:type="dcterms:W3CDTF">2026-05-04T18:08:20Z</dcterms:modified>
</cp:coreProperties>
</file>